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6858000" cx="12192000"/>
  <p:notesSz cx="6858000" cy="9144000"/>
  <p:embeddedFontLst>
    <p:embeddedFont>
      <p:font typeface="Plus Jakarta Sans"/>
      <p:regular r:id="rId16"/>
      <p:bold r:id="rId17"/>
      <p:italic r:id="rId18"/>
      <p:boldItalic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PlusJakartaSans-bold.fntdata"/><Relationship Id="rId16" Type="http://schemas.openxmlformats.org/officeDocument/2006/relationships/font" Target="fonts/PlusJakartaSans-regular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PlusJakartaSans-boldItalic.fntdata"/><Relationship Id="rId6" Type="http://schemas.openxmlformats.org/officeDocument/2006/relationships/slide" Target="slides/slide1.xml"/><Relationship Id="rId18" Type="http://schemas.openxmlformats.org/officeDocument/2006/relationships/font" Target="fonts/PlusJakartaSans-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</a:rPr>
              <a:t>Propose immediate funding approval for Phase 1 of the Smart-Recovery initiative to address growing collections capacity strain.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chemeClr val="dk1"/>
                </a:solidFill>
              </a:rPr>
              <a:t>Key Stats &amp; Figures: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US">
                <a:solidFill>
                  <a:schemeClr val="dk1"/>
                </a:solidFill>
              </a:rPr>
              <a:t>Scope Target:</a:t>
            </a:r>
            <a:r>
              <a:rPr lang="en-US">
                <a:solidFill>
                  <a:schemeClr val="dk1"/>
                </a:solidFill>
              </a:rPr>
              <a:t> Focuses strictly on simple self-service journeys (38% of total account volume) while preserving human handling for complex cases.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US">
                <a:solidFill>
                  <a:schemeClr val="dk1"/>
                </a:solidFill>
              </a:rPr>
              <a:t>Operational Baseline:</a:t>
            </a:r>
            <a:r>
              <a:rPr lang="en-US">
                <a:solidFill>
                  <a:schemeClr val="dk1"/>
                </a:solidFill>
              </a:rPr>
              <a:t> 50 representatives currently managing over 100,000 delinquent accounts.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</a:rPr>
              <a:t>Legacy Trust’s customer acquisition grew, but debt recovery infrastructure stalled, forcing heavy reliance on fragile workarounds.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chemeClr val="dk1"/>
                </a:solidFill>
              </a:rPr>
              <a:t>Key Stats &amp; Figures: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US">
                <a:solidFill>
                  <a:schemeClr val="dk1"/>
                </a:solidFill>
              </a:rPr>
              <a:t>Volume Strain:</a:t>
            </a:r>
            <a:r>
              <a:rPr lang="en-US">
                <a:solidFill>
                  <a:schemeClr val="dk1"/>
                </a:solidFill>
              </a:rPr>
              <a:t> 100,000+ delinquent accounts across personal loans, credit cards, and auto finance handled by 50 representatives.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US">
                <a:solidFill>
                  <a:schemeClr val="dk1"/>
                </a:solidFill>
              </a:rPr>
              <a:t>Admin Drain:</a:t>
            </a:r>
            <a:r>
              <a:rPr lang="en-US">
                <a:solidFill>
                  <a:schemeClr val="dk1"/>
                </a:solidFill>
              </a:rPr>
              <a:t> Representatives spend ~71% of their daily time on manual admin (spreadsheet reconciliation, email tracking, status checks).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US">
                <a:solidFill>
                  <a:schemeClr val="dk1"/>
                </a:solidFill>
              </a:rPr>
              <a:t>Financial Leakage:</a:t>
            </a:r>
            <a:r>
              <a:rPr lang="en-US">
                <a:solidFill>
                  <a:schemeClr val="dk1"/>
                </a:solidFill>
              </a:rPr>
              <a:t> Delayed actions, missed callbacks, and uncoordinated contact lead to an estimated 15% loss in recoverable revenue.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</a:rPr>
              <a:t>Empirical analysis across 75+ stakeholder observations highlights six major pain point categories and three structural root causes.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chemeClr val="dk1"/>
                </a:solidFill>
              </a:rPr>
              <a:t>Key Stats &amp; Figures: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US">
                <a:solidFill>
                  <a:schemeClr val="dk1"/>
                </a:solidFill>
              </a:rPr>
              <a:t>High-Impact Pain Point Concentration:</a:t>
            </a:r>
            <a:r>
              <a:rPr lang="en-US">
                <a:solidFill>
                  <a:schemeClr val="dk1"/>
                </a:solidFill>
              </a:rPr>
              <a:t> 19 visibility issues, 16 duplication issues, and 15 customer friction pain points.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US">
                <a:solidFill>
                  <a:schemeClr val="dk1"/>
                </a:solidFill>
              </a:rPr>
              <a:t>Prioritized Jobs-To-Be-Done:</a:t>
            </a:r>
            <a:r>
              <a:rPr lang="en-US">
                <a:solidFill>
                  <a:schemeClr val="dk1"/>
                </a:solidFill>
              </a:rPr>
              <a:t> Focused on JTBD-01 (Balance Clarity), JTBD-02 (Case History Sync), JTBD-03 (Simple Case Triage), and JTBD-05 (Audit Completeness).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</a:rPr>
              <a:t>Phase 1 capabilities deliver positive 12-month returns driven by recovery uplifts and hard representative time savings.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chemeClr val="dk1"/>
                </a:solidFill>
              </a:rPr>
              <a:t>Key Stats &amp; Figures: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US">
                <a:solidFill>
                  <a:schemeClr val="dk1"/>
                </a:solidFill>
              </a:rPr>
              <a:t>Payment-Plan Selection (SO-03):</a:t>
            </a:r>
            <a:r>
              <a:rPr lang="en-US">
                <a:solidFill>
                  <a:schemeClr val="dk1"/>
                </a:solidFill>
              </a:rPr>
              <a:t> Conservative 12.94x ROI (£1.09M Net) | Baseline 17.42x ROI (£1.48M Net) | Optimistic 34.58x ROI. Payback period: &lt; 1 month.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US">
                <a:solidFill>
                  <a:schemeClr val="dk1"/>
                </a:solidFill>
              </a:rPr>
              <a:t>Promise-to-Pay Capture (SO-04):</a:t>
            </a:r>
            <a:r>
              <a:rPr lang="en-US">
                <a:solidFill>
                  <a:schemeClr val="dk1"/>
                </a:solidFill>
              </a:rPr>
              <a:t> Conservative 7.64x ROI (£649k Net) | Baseline 10.08x ROI (£857k Net) | Optimistic 20.17x ROI.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US">
                <a:solidFill>
                  <a:schemeClr val="dk1"/>
                </a:solidFill>
              </a:rPr>
              <a:t>Portal Interaction History (SO-06):</a:t>
            </a:r>
            <a:r>
              <a:rPr lang="en-US">
                <a:solidFill>
                  <a:schemeClr val="dk1"/>
                </a:solidFill>
              </a:rPr>
              <a:t> Conservative 1.45x ROI (£124k Net) | Baseline 8.31x ROI (£706k Net) | Optimistic 30.38x ROI.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US">
                <a:solidFill>
                  <a:schemeClr val="dk1"/>
                </a:solidFill>
              </a:rPr>
              <a:t>Financial Inputs:</a:t>
            </a:r>
            <a:r>
              <a:rPr lang="en-US">
                <a:solidFill>
                  <a:schemeClr val="dk1"/>
                </a:solidFill>
              </a:rPr>
              <a:t> £22/hr blended representative cost, £8M baseline monthly recovery, 38% straightforward case share. Implementation costs: £45k (Low) to £85k (Medium) per capability.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</a:rPr>
              <a:t>Strict MoSCoW prioritization maintains delivery realism and protects project timelines.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chemeClr val="dk1"/>
                </a:solidFill>
              </a:rPr>
              <a:t>Key Stats &amp; Figures: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US">
                <a:solidFill>
                  <a:schemeClr val="dk1"/>
                </a:solidFill>
              </a:rPr>
              <a:t>In Scope (Must):</a:t>
            </a:r>
            <a:r>
              <a:rPr lang="en-US">
                <a:solidFill>
                  <a:schemeClr val="dk1"/>
                </a:solidFill>
              </a:rPr>
              <a:t> ID Verification, Real-Time Balance Summary, Payment Plan Selection, Promise-to-Pay Capture, Representative Portal History, Telemetry Tracking.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US">
                <a:solidFill>
                  <a:schemeClr val="dk1"/>
                </a:solidFill>
              </a:rPr>
              <a:t>Excluded (Won't):</a:t>
            </a:r>
            <a:r>
              <a:rPr lang="en-US">
                <a:solidFill>
                  <a:schemeClr val="dk1"/>
                </a:solidFill>
              </a:rPr>
              <a:t> Hardship assessments, bespoke repayment negotiations, legal workflows, account detail changes, full legacy database redesigns.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</a:rPr>
              <a:t>Standard self-service flows automatically; exceptions immediately route to representatives with full context.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chemeClr val="dk1"/>
                </a:solidFill>
              </a:rPr>
              <a:t>Key Stats &amp; Figures: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US">
                <a:solidFill>
                  <a:schemeClr val="dk1"/>
                </a:solidFill>
              </a:rPr>
              <a:t>Deflection Target:</a:t>
            </a:r>
            <a:r>
              <a:rPr lang="en-US">
                <a:solidFill>
                  <a:schemeClr val="dk1"/>
                </a:solidFill>
              </a:rPr>
              <a:t> Handles 38% of straightforward accounts fully self-service.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US">
                <a:solidFill>
                  <a:schemeClr val="dk1"/>
                </a:solidFill>
              </a:rPr>
              <a:t>Exception Triggers:</a:t>
            </a:r>
            <a:r>
              <a:rPr lang="en-US">
                <a:solidFill>
                  <a:schemeClr val="dk1"/>
                </a:solidFill>
              </a:rPr>
              <a:t> 3 failed ID verification attempts, self-reported hardship, plan disputes, or explicit rep requests.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US">
                <a:solidFill>
                  <a:schemeClr val="dk1"/>
                </a:solidFill>
              </a:rPr>
              <a:t>Timeout Control:</a:t>
            </a:r>
            <a:r>
              <a:rPr lang="en-US">
                <a:solidFill>
                  <a:schemeClr val="dk1"/>
                </a:solidFill>
              </a:rPr>
              <a:t> Session pause after 3 minutes of inactivity to protect financial data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</a:rPr>
              <a:t>Requirements are mapped into 19 prioritised user stories across 6 structured epics in Jira.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chemeClr val="dk1"/>
                </a:solidFill>
              </a:rPr>
              <a:t>Key Stats &amp; Figures: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US">
                <a:solidFill>
                  <a:schemeClr val="dk1"/>
                </a:solidFill>
              </a:rPr>
              <a:t>Backlog Breakdown:</a:t>
            </a:r>
            <a:r>
              <a:rPr lang="en-US">
                <a:solidFill>
                  <a:schemeClr val="dk1"/>
                </a:solidFill>
              </a:rPr>
              <a:t> 19 User Stories (Epics: Access &amp; Verification, Account Visibility, Payment Journey, Interaction History &amp; Audit, Telemetry, Routing).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US">
                <a:solidFill>
                  <a:schemeClr val="dk1"/>
                </a:solidFill>
              </a:rPr>
              <a:t>Critical Path:</a:t>
            </a:r>
            <a:r>
              <a:rPr lang="en-US">
                <a:solidFill>
                  <a:schemeClr val="dk1"/>
                </a:solidFill>
              </a:rPr>
              <a:t> US-01 (ID Verification) is the primary technical dependency before account balance displays (US-05) or payment commitments (US-10/11) can execute.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</a:rPr>
              <a:t>Operational, cultural, and compliance adoption risks are actively addressed through built-in system capabilities.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chemeClr val="dk1"/>
                </a:solidFill>
              </a:rPr>
              <a:t>Key Stats &amp; Figures &amp; Mitigations: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US">
                <a:solidFill>
                  <a:schemeClr val="dk1"/>
                </a:solidFill>
              </a:rPr>
              <a:t>Risk 1: Job Displacement Fears.</a:t>
            </a:r>
            <a:r>
              <a:rPr lang="en-US">
                <a:solidFill>
                  <a:schemeClr val="dk1"/>
                </a:solidFill>
              </a:rPr>
              <a:t> </a:t>
            </a:r>
            <a:r>
              <a:rPr i="1" lang="en-US">
                <a:solidFill>
                  <a:schemeClr val="dk1"/>
                </a:solidFill>
              </a:rPr>
              <a:t>Mitigation:</a:t>
            </a:r>
            <a:r>
              <a:rPr lang="en-US">
                <a:solidFill>
                  <a:schemeClr val="dk1"/>
                </a:solidFill>
              </a:rPr>
              <a:t> Staff briefings explaining that automation handles routine queries, allowing representatives to focus on complex cases.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US">
                <a:solidFill>
                  <a:schemeClr val="dk1"/>
                </a:solidFill>
              </a:rPr>
              <a:t>Risk 2: Lack of Context on Escalations.</a:t>
            </a:r>
            <a:r>
              <a:rPr lang="en-US">
                <a:solidFill>
                  <a:schemeClr val="dk1"/>
                </a:solidFill>
              </a:rPr>
              <a:t> </a:t>
            </a:r>
            <a:r>
              <a:rPr i="1" lang="en-US">
                <a:solidFill>
                  <a:schemeClr val="dk1"/>
                </a:solidFill>
              </a:rPr>
              <a:t>Mitigation:</a:t>
            </a:r>
            <a:r>
              <a:rPr lang="en-US">
                <a:solidFill>
                  <a:schemeClr val="dk1"/>
                </a:solidFill>
              </a:rPr>
              <a:t> US-17 displays exact customer portal timeline in the rep console.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US">
                <a:solidFill>
                  <a:schemeClr val="dk1"/>
                </a:solidFill>
              </a:rPr>
              <a:t>Risk 3: Unmonitored Success.</a:t>
            </a:r>
            <a:r>
              <a:rPr lang="en-US">
                <a:solidFill>
                  <a:schemeClr val="dk1"/>
                </a:solidFill>
              </a:rPr>
              <a:t> </a:t>
            </a:r>
            <a:r>
              <a:rPr i="1" lang="en-US">
                <a:solidFill>
                  <a:schemeClr val="dk1"/>
                </a:solidFill>
              </a:rPr>
              <a:t>Mitigation:</a:t>
            </a:r>
            <a:r>
              <a:rPr lang="en-US">
                <a:solidFill>
                  <a:schemeClr val="dk1"/>
                </a:solidFill>
              </a:rPr>
              <a:t> US-20 &amp; US-21 capture real-time journey telemetry and weekly call deflection reports.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</a:rPr>
              <a:t>Secure formal leadership approval to proceed from prototype to pilot build.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chemeClr val="dk1"/>
                </a:solidFill>
              </a:rPr>
              <a:t>Key Stats &amp; Figures: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US">
                <a:solidFill>
                  <a:schemeClr val="dk1"/>
                </a:solidFill>
              </a:rPr>
              <a:t>Primary Ask:</a:t>
            </a:r>
            <a:r>
              <a:rPr lang="en-US">
                <a:solidFill>
                  <a:schemeClr val="dk1"/>
                </a:solidFill>
              </a:rPr>
              <a:t> Approval for Phase 1 pilot implementation funding.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US">
                <a:solidFill>
                  <a:schemeClr val="dk1"/>
                </a:solidFill>
              </a:rPr>
              <a:t>Immediate Execution Roadmap:</a:t>
            </a:r>
            <a:endParaRPr b="1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-US">
                <a:solidFill>
                  <a:schemeClr val="dk1"/>
                </a:solidFill>
              </a:rPr>
              <a:t>Complete API integration between portal prototype and core database.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-US">
                <a:solidFill>
                  <a:schemeClr val="dk1"/>
                </a:solidFill>
              </a:rPr>
              <a:t>Conduct controlled pilot rollout on a initial account subset.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-US">
                <a:solidFill>
                  <a:schemeClr val="dk1"/>
                </a:solidFill>
              </a:rPr>
              <a:t>Measure conversion telemetry to validate the 12-month ROI model.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533400" y="4693890"/>
            <a:ext cx="533400" cy="38100"/>
          </a:xfrm>
          <a:prstGeom prst="roundRect">
            <a:avLst>
              <a:gd fmla="val 50000" name="adj"/>
            </a:avLst>
          </a:prstGeom>
          <a:solidFill>
            <a:srgbClr val="1E3A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85" name="Google Shape;85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3400" y="2126009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6" name="Google Shape;86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8650" y="2221259"/>
            <a:ext cx="19050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 txBox="1"/>
          <p:nvPr/>
        </p:nvSpPr>
        <p:spPr>
          <a:xfrm>
            <a:off x="533400" y="2773700"/>
            <a:ext cx="108717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497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9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Self-Service Smart Recovery Portal Proposal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533400" y="3895360"/>
            <a:ext cx="59649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Legacy Trust Bank Executive Briefing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1028700" y="2216497"/>
            <a:ext cx="223130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3A8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LEGACY TRUST BANK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/>
          <p:cNvSpPr/>
          <p:nvPr/>
        </p:nvSpPr>
        <p:spPr>
          <a:xfrm>
            <a:off x="533400" y="975270"/>
            <a:ext cx="11125200" cy="704850"/>
          </a:xfrm>
          <a:prstGeom prst="roundRect">
            <a:avLst>
              <a:gd fmla="val 1621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4"/>
          <p:cNvSpPr/>
          <p:nvPr/>
        </p:nvSpPr>
        <p:spPr>
          <a:xfrm>
            <a:off x="533400" y="1670595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533400" y="97527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4"/>
          <p:cNvSpPr/>
          <p:nvPr/>
        </p:nvSpPr>
        <p:spPr>
          <a:xfrm>
            <a:off x="533400" y="975270"/>
            <a:ext cx="47625" cy="70485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4"/>
          <p:cNvSpPr/>
          <p:nvPr/>
        </p:nvSpPr>
        <p:spPr>
          <a:xfrm>
            <a:off x="11649075" y="975270"/>
            <a:ext cx="9525" cy="7048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533400" y="1908720"/>
            <a:ext cx="5448300" cy="4530179"/>
          </a:xfrm>
          <a:prstGeom prst="roundRect">
            <a:avLst>
              <a:gd fmla="val 2523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6210300" y="1908720"/>
            <a:ext cx="5448300" cy="4530179"/>
          </a:xfrm>
          <a:prstGeom prst="roundRect">
            <a:avLst>
              <a:gd fmla="val 2523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01" name="Google Shape;101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7725" y="2737395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7725" y="3157388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3" name="Google Shape;10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24625" y="2737395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4" name="Google Shape;10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24625" y="3157388"/>
            <a:ext cx="76200" cy="762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4"/>
          <p:cNvSpPr txBox="1"/>
          <p:nvPr/>
        </p:nvSpPr>
        <p:spPr>
          <a:xfrm>
            <a:off x="533400" y="419100"/>
            <a:ext cx="11658600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RECOMMENDATION</a:t>
            </a:r>
            <a:endParaRPr/>
          </a:p>
        </p:txBody>
      </p:sp>
      <p:sp>
        <p:nvSpPr>
          <p:cNvPr id="106" name="Google Shape;106;p14"/>
          <p:cNvSpPr txBox="1"/>
          <p:nvPr/>
        </p:nvSpPr>
        <p:spPr>
          <a:xfrm>
            <a:off x="847725" y="1194345"/>
            <a:ext cx="113442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Approve a focused Phase 1 Smart-Recovery portal that:</a:t>
            </a:r>
            <a:endParaRPr sz="1600"/>
          </a:p>
        </p:txBody>
      </p:sp>
      <p:sp>
        <p:nvSpPr>
          <p:cNvPr id="107" name="Google Shape;107;p14"/>
          <p:cNvSpPr txBox="1"/>
          <p:nvPr/>
        </p:nvSpPr>
        <p:spPr>
          <a:xfrm>
            <a:off x="847725" y="2223045"/>
            <a:ext cx="63258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E3A8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CORE CAPABILITIES</a:t>
            </a:r>
            <a:endParaRPr sz="1500"/>
          </a:p>
        </p:txBody>
      </p:sp>
      <p:sp>
        <p:nvSpPr>
          <p:cNvPr id="108" name="Google Shape;108;p14"/>
          <p:cNvSpPr txBox="1"/>
          <p:nvPr/>
        </p:nvSpPr>
        <p:spPr>
          <a:xfrm>
            <a:off x="6524625" y="2223045"/>
            <a:ext cx="5667375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3A8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KEY BENEFITS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038225" y="2651670"/>
            <a:ext cx="4724400" cy="2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Digitises simple self-serve debt recovery journeys</a:t>
            </a:r>
            <a:endParaRPr/>
          </a:p>
        </p:txBody>
      </p:sp>
      <p:sp>
        <p:nvSpPr>
          <p:cNvPr id="110" name="Google Shape;110;p14"/>
          <p:cNvSpPr txBox="1"/>
          <p:nvPr/>
        </p:nvSpPr>
        <p:spPr>
          <a:xfrm>
            <a:off x="1038225" y="3071663"/>
            <a:ext cx="4724400" cy="4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Routes unsupported cases to representatives with full context.</a:t>
            </a:r>
            <a:endParaRPr/>
          </a:p>
        </p:txBody>
      </p:sp>
      <p:sp>
        <p:nvSpPr>
          <p:cNvPr id="111" name="Google Shape;111;p14"/>
          <p:cNvSpPr txBox="1"/>
          <p:nvPr/>
        </p:nvSpPr>
        <p:spPr>
          <a:xfrm>
            <a:off x="6715125" y="2651670"/>
            <a:ext cx="4724400" cy="2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Frees up representative capacity immediately</a:t>
            </a:r>
            <a:endParaRPr/>
          </a:p>
        </p:txBody>
      </p:sp>
      <p:sp>
        <p:nvSpPr>
          <p:cNvPr id="112" name="Google Shape;112;p14"/>
          <p:cNvSpPr txBox="1"/>
          <p:nvPr/>
        </p:nvSpPr>
        <p:spPr>
          <a:xfrm>
            <a:off x="6715125" y="3071663"/>
            <a:ext cx="47244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Delivers impact without requiring </a:t>
            </a:r>
            <a:r>
              <a:rPr b="1" lang="en-US" sz="135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resource-intensive </a:t>
            </a:r>
            <a:r>
              <a:rPr b="1" i="0" lang="en-US" sz="13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reworking of internal systems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5"/>
          <p:cNvSpPr/>
          <p:nvPr/>
        </p:nvSpPr>
        <p:spPr>
          <a:xfrm>
            <a:off x="533400" y="1051470"/>
            <a:ext cx="3555950" cy="5387429"/>
          </a:xfrm>
          <a:prstGeom prst="roundRect">
            <a:avLst>
              <a:gd fmla="val 321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5"/>
          <p:cNvSpPr/>
          <p:nvPr/>
        </p:nvSpPr>
        <p:spPr>
          <a:xfrm>
            <a:off x="4317950" y="1051470"/>
            <a:ext cx="3555950" cy="5387429"/>
          </a:xfrm>
          <a:prstGeom prst="roundRect">
            <a:avLst>
              <a:gd fmla="val 321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5"/>
          <p:cNvSpPr/>
          <p:nvPr/>
        </p:nvSpPr>
        <p:spPr>
          <a:xfrm>
            <a:off x="8102500" y="1051470"/>
            <a:ext cx="3555950" cy="5387429"/>
          </a:xfrm>
          <a:prstGeom prst="roundRect">
            <a:avLst>
              <a:gd fmla="val 321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5"/>
          <p:cNvSpPr txBox="1"/>
          <p:nvPr/>
        </p:nvSpPr>
        <p:spPr>
          <a:xfrm>
            <a:off x="533400" y="419100"/>
            <a:ext cx="11658600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WHY THE PROBLEM MATTERS NOW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809625" y="1365795"/>
            <a:ext cx="37543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E3A8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01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809625" y="1670595"/>
            <a:ext cx="3942094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Manual Handling Drain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809625" y="2042070"/>
            <a:ext cx="3098700" cy="176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14325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350"/>
              <a:buFont typeface="Plus Jakarta Sans"/>
              <a:buChar char="●"/>
            </a:pPr>
            <a:r>
              <a:rPr b="0" i="0" lang="en-US" sz="13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Manual handling of all accounts is draining representative time</a:t>
            </a:r>
            <a:endParaRPr sz="1350">
              <a:solidFill>
                <a:srgbClr val="334155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-314325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350"/>
              <a:buFont typeface="Plus Jakarta Sans"/>
              <a:buChar char="●"/>
            </a:pPr>
            <a:r>
              <a:rPr lang="en-US" sz="135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</a:t>
            </a:r>
            <a:r>
              <a:rPr b="0" i="0" lang="en-US" sz="13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asting valuable resources on simple cases </a:t>
            </a:r>
            <a:endParaRPr b="0" i="0" sz="1350" u="none" cap="none" strike="noStrike">
              <a:solidFill>
                <a:srgbClr val="334155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-314325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350"/>
              <a:buFont typeface="Plus Jakarta Sans"/>
              <a:buChar char="●"/>
            </a:pPr>
            <a:r>
              <a:rPr lang="en-US" sz="135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</a:t>
            </a:r>
            <a:r>
              <a:rPr b="0" i="0" lang="en-US" sz="13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acking attention where critically needed.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4572000" y="2094458"/>
            <a:ext cx="3942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Delinquent Accounts</a:t>
            </a:r>
            <a:endParaRPr/>
          </a:p>
        </p:txBody>
      </p:sp>
      <p:sp>
        <p:nvSpPr>
          <p:cNvPr id="125" name="Google Shape;125;p15"/>
          <p:cNvSpPr txBox="1"/>
          <p:nvPr/>
        </p:nvSpPr>
        <p:spPr>
          <a:xfrm>
            <a:off x="4572000" y="2465933"/>
            <a:ext cx="3098700" cy="5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Volume is rapidly growing and is no longer manageable by just 50 agents. </a:t>
            </a:r>
            <a:endParaRPr/>
          </a:p>
        </p:txBody>
      </p:sp>
      <p:sp>
        <p:nvSpPr>
          <p:cNvPr id="126" name="Google Shape;126;p15"/>
          <p:cNvSpPr txBox="1"/>
          <p:nvPr/>
        </p:nvSpPr>
        <p:spPr>
          <a:xfrm>
            <a:off x="8378725" y="1365795"/>
            <a:ext cx="37543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E3A8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03</a:t>
            </a:r>
            <a:endParaRPr/>
          </a:p>
        </p:txBody>
      </p:sp>
      <p:sp>
        <p:nvSpPr>
          <p:cNvPr id="127" name="Google Shape;127;p15"/>
          <p:cNvSpPr txBox="1"/>
          <p:nvPr/>
        </p:nvSpPr>
        <p:spPr>
          <a:xfrm>
            <a:off x="8378725" y="1670595"/>
            <a:ext cx="3813274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Data System Gaps</a:t>
            </a:r>
            <a:endParaRPr/>
          </a:p>
        </p:txBody>
      </p:sp>
      <p:sp>
        <p:nvSpPr>
          <p:cNvPr id="128" name="Google Shape;128;p15"/>
          <p:cNvSpPr txBox="1"/>
          <p:nvPr/>
        </p:nvSpPr>
        <p:spPr>
          <a:xfrm>
            <a:off x="8378725" y="2042070"/>
            <a:ext cx="3098700" cy="176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14325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350"/>
              <a:buFont typeface="Plus Jakarta Sans"/>
              <a:buChar char="●"/>
            </a:pPr>
            <a:r>
              <a:rPr b="0" i="0" lang="en-US" sz="13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Poor data management leads to missed cases. </a:t>
            </a:r>
            <a:endParaRPr b="0" i="0" sz="1350" u="none" cap="none" strike="noStrike">
              <a:solidFill>
                <a:srgbClr val="334155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-314325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350"/>
              <a:buFont typeface="Plus Jakarta Sans"/>
              <a:buChar char="●"/>
            </a:pPr>
            <a:r>
              <a:rPr b="0" i="0" lang="en-US" sz="13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New smart systems must be architected specifically to overcome these tracking and visibility gaps.</a:t>
            </a:r>
            <a:endParaRPr/>
          </a:p>
        </p:txBody>
      </p:sp>
      <p:sp>
        <p:nvSpPr>
          <p:cNvPr id="129" name="Google Shape;129;p15"/>
          <p:cNvSpPr txBox="1"/>
          <p:nvPr/>
        </p:nvSpPr>
        <p:spPr>
          <a:xfrm>
            <a:off x="4572000" y="1573481"/>
            <a:ext cx="16191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100k+</a:t>
            </a:r>
            <a:endParaRPr/>
          </a:p>
        </p:txBody>
      </p:sp>
      <p:sp>
        <p:nvSpPr>
          <p:cNvPr id="130" name="Google Shape;130;p15"/>
          <p:cNvSpPr txBox="1"/>
          <p:nvPr/>
        </p:nvSpPr>
        <p:spPr>
          <a:xfrm>
            <a:off x="4594113" y="1358758"/>
            <a:ext cx="37545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E3A8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</a:t>
            </a:r>
            <a:r>
              <a:rPr b="1" lang="en-US" sz="1050">
                <a:solidFill>
                  <a:srgbClr val="1E3A8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</a:t>
            </a:r>
            <a:endParaRPr b="1" sz="1050">
              <a:solidFill>
                <a:srgbClr val="1E3A8A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6"/>
          <p:cNvSpPr/>
          <p:nvPr/>
        </p:nvSpPr>
        <p:spPr>
          <a:xfrm>
            <a:off x="533400" y="1051470"/>
            <a:ext cx="3555950" cy="5387429"/>
          </a:xfrm>
          <a:prstGeom prst="roundRect">
            <a:avLst>
              <a:gd fmla="val 321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6"/>
          <p:cNvSpPr/>
          <p:nvPr/>
        </p:nvSpPr>
        <p:spPr>
          <a:xfrm>
            <a:off x="4317950" y="1051470"/>
            <a:ext cx="3555950" cy="5387429"/>
          </a:xfrm>
          <a:prstGeom prst="roundRect">
            <a:avLst>
              <a:gd fmla="val 321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6"/>
          <p:cNvSpPr/>
          <p:nvPr/>
        </p:nvSpPr>
        <p:spPr>
          <a:xfrm>
            <a:off x="8102500" y="1051470"/>
            <a:ext cx="3555950" cy="5387429"/>
          </a:xfrm>
          <a:prstGeom prst="roundRect">
            <a:avLst>
              <a:gd fmla="val 321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38" name="Google Shape;138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0575" y="2099220"/>
            <a:ext cx="66675" cy="666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9" name="Google Shape;139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0575" y="2729656"/>
            <a:ext cx="66675" cy="666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0" name="Google Shape;140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0575" y="3360092"/>
            <a:ext cx="66675" cy="666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1" name="Google Shape;141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5125" y="2099220"/>
            <a:ext cx="66675" cy="666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2" name="Google Shape;14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5125" y="2481113"/>
            <a:ext cx="66675" cy="666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3" name="Google Shape;14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5125" y="2863006"/>
            <a:ext cx="66675" cy="666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4" name="Google Shape;144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59675" y="2099220"/>
            <a:ext cx="66675" cy="666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5" name="Google Shape;145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59675" y="2729656"/>
            <a:ext cx="66675" cy="666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6" name="Google Shape;14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59675" y="3360092"/>
            <a:ext cx="66675" cy="6667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6"/>
          <p:cNvSpPr txBox="1"/>
          <p:nvPr/>
        </p:nvSpPr>
        <p:spPr>
          <a:xfrm>
            <a:off x="533400" y="419100"/>
            <a:ext cx="11658600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DISCOVERY EVIDENCE (PAIN POINTS)</a:t>
            </a:r>
            <a:endParaRPr/>
          </a:p>
        </p:txBody>
      </p:sp>
      <p:sp>
        <p:nvSpPr>
          <p:cNvPr id="148" name="Google Shape;148;p16"/>
          <p:cNvSpPr txBox="1"/>
          <p:nvPr/>
        </p:nvSpPr>
        <p:spPr>
          <a:xfrm>
            <a:off x="790575" y="1346745"/>
            <a:ext cx="38020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E3A8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01</a:t>
            </a:r>
            <a:endParaRPr/>
          </a:p>
        </p:txBody>
      </p:sp>
      <p:sp>
        <p:nvSpPr>
          <p:cNvPr id="149" name="Google Shape;149;p16"/>
          <p:cNvSpPr txBox="1"/>
          <p:nvPr/>
        </p:nvSpPr>
        <p:spPr>
          <a:xfrm>
            <a:off x="790575" y="1632495"/>
            <a:ext cx="39921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2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CRITICAL PAIN POINTS</a:t>
            </a:r>
            <a:endParaRPr/>
          </a:p>
        </p:txBody>
      </p:sp>
      <p:sp>
        <p:nvSpPr>
          <p:cNvPr id="150" name="Google Shape;150;p16"/>
          <p:cNvSpPr txBox="1"/>
          <p:nvPr/>
        </p:nvSpPr>
        <p:spPr>
          <a:xfrm>
            <a:off x="4575125" y="1346745"/>
            <a:ext cx="38020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E3A8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02</a:t>
            </a:r>
            <a:endParaRPr/>
          </a:p>
        </p:txBody>
      </p:sp>
      <p:sp>
        <p:nvSpPr>
          <p:cNvPr id="151" name="Google Shape;151;p16"/>
          <p:cNvSpPr txBox="1"/>
          <p:nvPr/>
        </p:nvSpPr>
        <p:spPr>
          <a:xfrm>
            <a:off x="4575125" y="1632495"/>
            <a:ext cx="39921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2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4 HIGH-PRIORITY JTBD</a:t>
            </a:r>
            <a:endParaRPr/>
          </a:p>
        </p:txBody>
      </p:sp>
      <p:sp>
        <p:nvSpPr>
          <p:cNvPr id="152" name="Google Shape;152;p16"/>
          <p:cNvSpPr txBox="1"/>
          <p:nvPr/>
        </p:nvSpPr>
        <p:spPr>
          <a:xfrm>
            <a:off x="8359675" y="1346745"/>
            <a:ext cx="38020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E3A8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03</a:t>
            </a:r>
            <a:endParaRPr/>
          </a:p>
        </p:txBody>
      </p:sp>
      <p:sp>
        <p:nvSpPr>
          <p:cNvPr id="153" name="Google Shape;153;p16"/>
          <p:cNvSpPr txBox="1"/>
          <p:nvPr/>
        </p:nvSpPr>
        <p:spPr>
          <a:xfrm>
            <a:off x="8359675" y="1632495"/>
            <a:ext cx="3832324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2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AT-SCALE ROOT CAUSES</a:t>
            </a:r>
            <a:endParaRPr/>
          </a:p>
        </p:txBody>
      </p:sp>
      <p:sp>
        <p:nvSpPr>
          <p:cNvPr id="154" name="Google Shape;154;p16"/>
          <p:cNvSpPr txBox="1"/>
          <p:nvPr/>
        </p:nvSpPr>
        <p:spPr>
          <a:xfrm>
            <a:off x="952500" y="2013495"/>
            <a:ext cx="29748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3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Poor Visibility (manual workaround reliance)</a:t>
            </a:r>
            <a:endParaRPr/>
          </a:p>
        </p:txBody>
      </p:sp>
      <p:sp>
        <p:nvSpPr>
          <p:cNvPr id="155" name="Google Shape;155;p16"/>
          <p:cNvSpPr txBox="1"/>
          <p:nvPr/>
        </p:nvSpPr>
        <p:spPr>
          <a:xfrm>
            <a:off x="952500" y="2643931"/>
            <a:ext cx="29748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3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Duplication of Work (re-contact, manual re-keying)</a:t>
            </a:r>
            <a:endParaRPr/>
          </a:p>
        </p:txBody>
      </p:sp>
      <p:sp>
        <p:nvSpPr>
          <p:cNvPr id="156" name="Google Shape;156;p16"/>
          <p:cNvSpPr txBox="1"/>
          <p:nvPr/>
        </p:nvSpPr>
        <p:spPr>
          <a:xfrm>
            <a:off x="952500" y="3274367"/>
            <a:ext cx="29748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3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Customer Friction (no self-service visibility)</a:t>
            </a:r>
            <a:endParaRPr/>
          </a:p>
        </p:txBody>
      </p:sp>
      <p:sp>
        <p:nvSpPr>
          <p:cNvPr id="157" name="Google Shape;157;p16"/>
          <p:cNvSpPr txBox="1"/>
          <p:nvPr/>
        </p:nvSpPr>
        <p:spPr>
          <a:xfrm>
            <a:off x="4737050" y="2013495"/>
            <a:ext cx="2974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3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Case history &amp; contact tracking</a:t>
            </a:r>
            <a:endParaRPr/>
          </a:p>
        </p:txBody>
      </p:sp>
      <p:sp>
        <p:nvSpPr>
          <p:cNvPr id="158" name="Google Shape;158;p16"/>
          <p:cNvSpPr txBox="1"/>
          <p:nvPr/>
        </p:nvSpPr>
        <p:spPr>
          <a:xfrm>
            <a:off x="4737050" y="2395388"/>
            <a:ext cx="2974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3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Simple case triage</a:t>
            </a:r>
            <a:endParaRPr/>
          </a:p>
        </p:txBody>
      </p:sp>
      <p:sp>
        <p:nvSpPr>
          <p:cNvPr id="159" name="Google Shape;159;p16"/>
          <p:cNvSpPr txBox="1"/>
          <p:nvPr/>
        </p:nvSpPr>
        <p:spPr>
          <a:xfrm>
            <a:off x="4737050" y="2777281"/>
            <a:ext cx="2974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3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Self-service balance clarity</a:t>
            </a:r>
            <a:endParaRPr/>
          </a:p>
        </p:txBody>
      </p:sp>
      <p:sp>
        <p:nvSpPr>
          <p:cNvPr id="160" name="Google Shape;160;p16"/>
          <p:cNvSpPr txBox="1"/>
          <p:nvPr/>
        </p:nvSpPr>
        <p:spPr>
          <a:xfrm>
            <a:off x="8521600" y="2013495"/>
            <a:ext cx="29748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3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No integrated case record (reps check 3 systems for history)</a:t>
            </a:r>
            <a:endParaRPr/>
          </a:p>
        </p:txBody>
      </p:sp>
      <p:sp>
        <p:nvSpPr>
          <p:cNvPr id="161" name="Google Shape;161;p16"/>
          <p:cNvSpPr txBox="1"/>
          <p:nvPr/>
        </p:nvSpPr>
        <p:spPr>
          <a:xfrm>
            <a:off x="8521600" y="2643931"/>
            <a:ext cx="29748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3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No complexity classifier (simple cases stuck behind complex)</a:t>
            </a:r>
            <a:endParaRPr/>
          </a:p>
        </p:txBody>
      </p:sp>
      <p:sp>
        <p:nvSpPr>
          <p:cNvPr id="162" name="Google Shape;162;p16"/>
          <p:cNvSpPr txBox="1"/>
          <p:nvPr/>
        </p:nvSpPr>
        <p:spPr>
          <a:xfrm>
            <a:off x="8521600" y="3274367"/>
            <a:ext cx="2974800" cy="6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3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Scattered audit trail (email/sheets/legacy DB compliance risk)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7"/>
          <p:cNvSpPr/>
          <p:nvPr/>
        </p:nvSpPr>
        <p:spPr>
          <a:xfrm>
            <a:off x="533400" y="1051470"/>
            <a:ext cx="3754635" cy="5387429"/>
          </a:xfrm>
          <a:prstGeom prst="roundRect">
            <a:avLst>
              <a:gd fmla="val 304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7"/>
          <p:cNvSpPr/>
          <p:nvPr/>
        </p:nvSpPr>
        <p:spPr>
          <a:xfrm>
            <a:off x="4516635" y="1051470"/>
            <a:ext cx="3456682" cy="5387429"/>
          </a:xfrm>
          <a:prstGeom prst="roundRect">
            <a:avLst>
              <a:gd fmla="val 3306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7"/>
          <p:cNvSpPr/>
          <p:nvPr/>
        </p:nvSpPr>
        <p:spPr>
          <a:xfrm>
            <a:off x="8201917" y="1051470"/>
            <a:ext cx="3456682" cy="5387429"/>
          </a:xfrm>
          <a:prstGeom prst="roundRect">
            <a:avLst>
              <a:gd fmla="val 3306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7"/>
          <p:cNvSpPr/>
          <p:nvPr/>
        </p:nvSpPr>
        <p:spPr>
          <a:xfrm>
            <a:off x="771525" y="1994445"/>
            <a:ext cx="3278385" cy="695325"/>
          </a:xfrm>
          <a:prstGeom prst="roundRect">
            <a:avLst>
              <a:gd fmla="val 10958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7"/>
          <p:cNvSpPr/>
          <p:nvPr/>
        </p:nvSpPr>
        <p:spPr>
          <a:xfrm>
            <a:off x="771525" y="2823120"/>
            <a:ext cx="3278385" cy="695325"/>
          </a:xfrm>
          <a:prstGeom prst="roundRect">
            <a:avLst>
              <a:gd fmla="val 10958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7"/>
          <p:cNvSpPr/>
          <p:nvPr/>
        </p:nvSpPr>
        <p:spPr>
          <a:xfrm>
            <a:off x="771525" y="3651795"/>
            <a:ext cx="3278385" cy="695325"/>
          </a:xfrm>
          <a:prstGeom prst="roundRect">
            <a:avLst>
              <a:gd fmla="val 10958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7"/>
          <p:cNvSpPr txBox="1"/>
          <p:nvPr/>
        </p:nvSpPr>
        <p:spPr>
          <a:xfrm>
            <a:off x="533400" y="419100"/>
            <a:ext cx="11658600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VALUE CASE (ROI)</a:t>
            </a:r>
            <a:endParaRPr/>
          </a:p>
        </p:txBody>
      </p:sp>
      <p:sp>
        <p:nvSpPr>
          <p:cNvPr id="174" name="Google Shape;174;p17"/>
          <p:cNvSpPr txBox="1"/>
          <p:nvPr/>
        </p:nvSpPr>
        <p:spPr>
          <a:xfrm>
            <a:off x="771525" y="1327695"/>
            <a:ext cx="409798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E3A8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01</a:t>
            </a:r>
            <a:endParaRPr/>
          </a:p>
        </p:txBody>
      </p:sp>
      <p:sp>
        <p:nvSpPr>
          <p:cNvPr id="175" name="Google Shape;175;p17"/>
          <p:cNvSpPr txBox="1"/>
          <p:nvPr/>
        </p:nvSpPr>
        <p:spPr>
          <a:xfrm>
            <a:off x="771525" y="1613445"/>
            <a:ext cx="4302881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2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TOP RANKED OPPORTUNITIES</a:t>
            </a:r>
            <a:endParaRPr/>
          </a:p>
        </p:txBody>
      </p:sp>
      <p:sp>
        <p:nvSpPr>
          <p:cNvPr id="176" name="Google Shape;176;p17"/>
          <p:cNvSpPr txBox="1"/>
          <p:nvPr/>
        </p:nvSpPr>
        <p:spPr>
          <a:xfrm>
            <a:off x="4754760" y="1327695"/>
            <a:ext cx="372554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E3A8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02</a:t>
            </a:r>
            <a:endParaRPr/>
          </a:p>
        </p:txBody>
      </p:sp>
      <p:sp>
        <p:nvSpPr>
          <p:cNvPr id="177" name="Google Shape;177;p17"/>
          <p:cNvSpPr txBox="1"/>
          <p:nvPr/>
        </p:nvSpPr>
        <p:spPr>
          <a:xfrm>
            <a:off x="4754760" y="1613445"/>
            <a:ext cx="3911817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2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12-MONTH ROI LOGIC</a:t>
            </a:r>
            <a:endParaRPr/>
          </a:p>
        </p:txBody>
      </p:sp>
      <p:sp>
        <p:nvSpPr>
          <p:cNvPr id="178" name="Google Shape;178;p17"/>
          <p:cNvSpPr txBox="1"/>
          <p:nvPr/>
        </p:nvSpPr>
        <p:spPr>
          <a:xfrm>
            <a:off x="8440042" y="1327695"/>
            <a:ext cx="372554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E3A8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03</a:t>
            </a:r>
            <a:endParaRPr/>
          </a:p>
        </p:txBody>
      </p:sp>
      <p:sp>
        <p:nvSpPr>
          <p:cNvPr id="179" name="Google Shape;179;p17"/>
          <p:cNvSpPr txBox="1"/>
          <p:nvPr/>
        </p:nvSpPr>
        <p:spPr>
          <a:xfrm>
            <a:off x="8440042" y="1613445"/>
            <a:ext cx="3751957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2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CONFIDENCE &amp; NOTES</a:t>
            </a:r>
            <a:endParaRPr/>
          </a:p>
        </p:txBody>
      </p:sp>
      <p:sp>
        <p:nvSpPr>
          <p:cNvPr id="180" name="Google Shape;180;p17"/>
          <p:cNvSpPr txBox="1"/>
          <p:nvPr/>
        </p:nvSpPr>
        <p:spPr>
          <a:xfrm>
            <a:off x="933450" y="2118270"/>
            <a:ext cx="3693169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Payment-Plan Selection</a:t>
            </a:r>
            <a:endParaRPr/>
          </a:p>
        </p:txBody>
      </p:sp>
      <p:sp>
        <p:nvSpPr>
          <p:cNvPr id="181" name="Google Shape;181;p17"/>
          <p:cNvSpPr txBox="1"/>
          <p:nvPr/>
        </p:nvSpPr>
        <p:spPr>
          <a:xfrm>
            <a:off x="933450" y="2365920"/>
            <a:ext cx="3693169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3A8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12.94x–34.58x ROI | £1.48M Net</a:t>
            </a:r>
            <a:endParaRPr/>
          </a:p>
        </p:txBody>
      </p:sp>
      <p:sp>
        <p:nvSpPr>
          <p:cNvPr id="182" name="Google Shape;182;p17"/>
          <p:cNvSpPr txBox="1"/>
          <p:nvPr/>
        </p:nvSpPr>
        <p:spPr>
          <a:xfrm>
            <a:off x="933450" y="2946945"/>
            <a:ext cx="3693169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Promise-to-Pay Capture</a:t>
            </a:r>
            <a:endParaRPr/>
          </a:p>
        </p:txBody>
      </p:sp>
      <p:sp>
        <p:nvSpPr>
          <p:cNvPr id="183" name="Google Shape;183;p17"/>
          <p:cNvSpPr txBox="1"/>
          <p:nvPr/>
        </p:nvSpPr>
        <p:spPr>
          <a:xfrm>
            <a:off x="933450" y="3194595"/>
            <a:ext cx="3693169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3A8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7.6x–20.1x ROI | £857k Net</a:t>
            </a:r>
            <a:endParaRPr/>
          </a:p>
        </p:txBody>
      </p:sp>
      <p:sp>
        <p:nvSpPr>
          <p:cNvPr id="184" name="Google Shape;184;p17"/>
          <p:cNvSpPr txBox="1"/>
          <p:nvPr/>
        </p:nvSpPr>
        <p:spPr>
          <a:xfrm>
            <a:off x="933450" y="3775620"/>
            <a:ext cx="3693169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Portal Interaction History</a:t>
            </a:r>
            <a:endParaRPr/>
          </a:p>
        </p:txBody>
      </p:sp>
      <p:sp>
        <p:nvSpPr>
          <p:cNvPr id="185" name="Google Shape;185;p17"/>
          <p:cNvSpPr txBox="1"/>
          <p:nvPr/>
        </p:nvSpPr>
        <p:spPr>
          <a:xfrm>
            <a:off x="933450" y="4023270"/>
            <a:ext cx="3693169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3A8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1.45x–30.3x ROI | £706k Net</a:t>
            </a:r>
            <a:endParaRPr/>
          </a:p>
        </p:txBody>
      </p:sp>
      <p:sp>
        <p:nvSpPr>
          <p:cNvPr id="186" name="Google Shape;186;p17"/>
          <p:cNvSpPr txBox="1"/>
          <p:nvPr/>
        </p:nvSpPr>
        <p:spPr>
          <a:xfrm>
            <a:off x="4754760" y="1994445"/>
            <a:ext cx="372554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• Recovery Uplifts</a:t>
            </a:r>
            <a:endParaRPr/>
          </a:p>
        </p:txBody>
      </p:sp>
      <p:sp>
        <p:nvSpPr>
          <p:cNvPr id="187" name="Google Shape;187;p17"/>
          <p:cNvSpPr txBox="1"/>
          <p:nvPr/>
        </p:nvSpPr>
        <p:spPr>
          <a:xfrm>
            <a:off x="4754760" y="2270670"/>
            <a:ext cx="3075682" cy="4694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Value is primarily driven by recovery uplifts captured from missed cases.</a:t>
            </a:r>
            <a:endParaRPr/>
          </a:p>
        </p:txBody>
      </p:sp>
      <p:sp>
        <p:nvSpPr>
          <p:cNvPr id="188" name="Google Shape;188;p17"/>
          <p:cNvSpPr txBox="1"/>
          <p:nvPr/>
        </p:nvSpPr>
        <p:spPr>
          <a:xfrm>
            <a:off x="4754760" y="2911524"/>
            <a:ext cx="372554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• Time Savings</a:t>
            </a:r>
            <a:endParaRPr/>
          </a:p>
        </p:txBody>
      </p:sp>
      <p:sp>
        <p:nvSpPr>
          <p:cNvPr id="189" name="Google Shape;189;p17"/>
          <p:cNvSpPr txBox="1"/>
          <p:nvPr/>
        </p:nvSpPr>
        <p:spPr>
          <a:xfrm>
            <a:off x="4754760" y="3187749"/>
            <a:ext cx="3075682" cy="7041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Complemented by representative operational time savings across workflows.</a:t>
            </a:r>
            <a:endParaRPr/>
          </a:p>
        </p:txBody>
      </p:sp>
      <p:sp>
        <p:nvSpPr>
          <p:cNvPr id="190" name="Google Shape;190;p17"/>
          <p:cNvSpPr txBox="1"/>
          <p:nvPr/>
        </p:nvSpPr>
        <p:spPr>
          <a:xfrm>
            <a:off x="8440042" y="1994445"/>
            <a:ext cx="372554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• Conservative Case</a:t>
            </a:r>
            <a:endParaRPr/>
          </a:p>
        </p:txBody>
      </p:sp>
      <p:sp>
        <p:nvSpPr>
          <p:cNvPr id="191" name="Google Shape;191;p17"/>
          <p:cNvSpPr txBox="1"/>
          <p:nvPr/>
        </p:nvSpPr>
        <p:spPr>
          <a:xfrm>
            <a:off x="8440042" y="2270670"/>
            <a:ext cx="3075682" cy="7041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High ROI potential is maintained even under Conservative scenario estimates.</a:t>
            </a:r>
            <a:endParaRPr/>
          </a:p>
        </p:txBody>
      </p:sp>
      <p:sp>
        <p:nvSpPr>
          <p:cNvPr id="192" name="Google Shape;192;p17"/>
          <p:cNvSpPr txBox="1"/>
          <p:nvPr/>
        </p:nvSpPr>
        <p:spPr>
          <a:xfrm>
            <a:off x="8440042" y="3146226"/>
            <a:ext cx="372554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• Data Support</a:t>
            </a:r>
            <a:endParaRPr/>
          </a:p>
        </p:txBody>
      </p:sp>
      <p:sp>
        <p:nvSpPr>
          <p:cNvPr id="193" name="Google Shape;193;p17"/>
          <p:cNvSpPr txBox="1"/>
          <p:nvPr/>
        </p:nvSpPr>
        <p:spPr>
          <a:xfrm>
            <a:off x="8440042" y="3422451"/>
            <a:ext cx="3075682" cy="7041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Operational time savings are backed by high/medium confidence baseline data.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8"/>
          <p:cNvSpPr/>
          <p:nvPr/>
        </p:nvSpPr>
        <p:spPr>
          <a:xfrm>
            <a:off x="533400" y="1051470"/>
            <a:ext cx="3555950" cy="5387429"/>
          </a:xfrm>
          <a:prstGeom prst="roundRect">
            <a:avLst>
              <a:gd fmla="val 321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8"/>
          <p:cNvSpPr/>
          <p:nvPr/>
        </p:nvSpPr>
        <p:spPr>
          <a:xfrm>
            <a:off x="4317950" y="1051470"/>
            <a:ext cx="3555950" cy="5387429"/>
          </a:xfrm>
          <a:prstGeom prst="roundRect">
            <a:avLst>
              <a:gd fmla="val 321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8"/>
          <p:cNvSpPr/>
          <p:nvPr/>
        </p:nvSpPr>
        <p:spPr>
          <a:xfrm>
            <a:off x="8102500" y="1051470"/>
            <a:ext cx="3555950" cy="5387429"/>
          </a:xfrm>
          <a:prstGeom prst="roundRect">
            <a:avLst>
              <a:gd fmla="val 321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01" name="Google Shape;20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0575" y="2118270"/>
            <a:ext cx="66675" cy="666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2" name="Google Shape;20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0575" y="2470695"/>
            <a:ext cx="66675" cy="666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3" name="Google Shape;203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0575" y="2823120"/>
            <a:ext cx="66675" cy="666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4" name="Google Shape;204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0575" y="3175545"/>
            <a:ext cx="66675" cy="666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5" name="Google Shape;205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0575" y="3527970"/>
            <a:ext cx="66675" cy="666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6" name="Google Shape;206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5125" y="2127795"/>
            <a:ext cx="66675" cy="666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7" name="Google Shape;20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5125" y="2758231"/>
            <a:ext cx="66675" cy="666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8" name="Google Shape;208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5125" y="3140124"/>
            <a:ext cx="66675" cy="666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9" name="Google Shape;209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59675" y="2127795"/>
            <a:ext cx="66675" cy="666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0" name="Google Shape;21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59675" y="2777281"/>
            <a:ext cx="66675" cy="66675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18"/>
          <p:cNvSpPr txBox="1"/>
          <p:nvPr/>
        </p:nvSpPr>
        <p:spPr>
          <a:xfrm>
            <a:off x="533400" y="419100"/>
            <a:ext cx="11658600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PHASE 1 SCOPE AND EXCLUSIONS</a:t>
            </a:r>
            <a:endParaRPr/>
          </a:p>
        </p:txBody>
      </p:sp>
      <p:sp>
        <p:nvSpPr>
          <p:cNvPr id="212" name="Google Shape;212;p18"/>
          <p:cNvSpPr txBox="1"/>
          <p:nvPr/>
        </p:nvSpPr>
        <p:spPr>
          <a:xfrm>
            <a:off x="790575" y="1346745"/>
            <a:ext cx="38020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E3A8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01</a:t>
            </a:r>
            <a:endParaRPr/>
          </a:p>
        </p:txBody>
      </p:sp>
      <p:sp>
        <p:nvSpPr>
          <p:cNvPr id="213" name="Google Shape;213;p18"/>
          <p:cNvSpPr txBox="1"/>
          <p:nvPr/>
        </p:nvSpPr>
        <p:spPr>
          <a:xfrm>
            <a:off x="790575" y="1632495"/>
            <a:ext cx="399210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 SCOPE</a:t>
            </a:r>
            <a:endParaRPr/>
          </a:p>
        </p:txBody>
      </p:sp>
      <p:sp>
        <p:nvSpPr>
          <p:cNvPr id="214" name="Google Shape;214;p18"/>
          <p:cNvSpPr txBox="1"/>
          <p:nvPr/>
        </p:nvSpPr>
        <p:spPr>
          <a:xfrm>
            <a:off x="4575125" y="1346745"/>
            <a:ext cx="38020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E3A8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02</a:t>
            </a:r>
            <a:endParaRPr/>
          </a:p>
        </p:txBody>
      </p:sp>
      <p:sp>
        <p:nvSpPr>
          <p:cNvPr id="215" name="Google Shape;215;p18"/>
          <p:cNvSpPr txBox="1"/>
          <p:nvPr/>
        </p:nvSpPr>
        <p:spPr>
          <a:xfrm>
            <a:off x="4575125" y="1632495"/>
            <a:ext cx="399210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EXCLUDED (FOR NOW)</a:t>
            </a:r>
            <a:endParaRPr/>
          </a:p>
        </p:txBody>
      </p:sp>
      <p:sp>
        <p:nvSpPr>
          <p:cNvPr id="216" name="Google Shape;216;p18"/>
          <p:cNvSpPr txBox="1"/>
          <p:nvPr/>
        </p:nvSpPr>
        <p:spPr>
          <a:xfrm>
            <a:off x="8359675" y="1346745"/>
            <a:ext cx="38020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E3A8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03</a:t>
            </a:r>
            <a:endParaRPr/>
          </a:p>
        </p:txBody>
      </p:sp>
      <p:sp>
        <p:nvSpPr>
          <p:cNvPr id="217" name="Google Shape;217;p18"/>
          <p:cNvSpPr txBox="1"/>
          <p:nvPr/>
        </p:nvSpPr>
        <p:spPr>
          <a:xfrm>
            <a:off x="8359675" y="1632495"/>
            <a:ext cx="3832324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WHY THIS BUILDS CREDIBILITY</a:t>
            </a:r>
            <a:endParaRPr/>
          </a:p>
        </p:txBody>
      </p:sp>
      <p:sp>
        <p:nvSpPr>
          <p:cNvPr id="218" name="Google Shape;218;p18"/>
          <p:cNvSpPr txBox="1"/>
          <p:nvPr/>
        </p:nvSpPr>
        <p:spPr>
          <a:xfrm>
            <a:off x="952500" y="2042070"/>
            <a:ext cx="3640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3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ID verification</a:t>
            </a:r>
            <a:endParaRPr/>
          </a:p>
        </p:txBody>
      </p:sp>
      <p:sp>
        <p:nvSpPr>
          <p:cNvPr id="219" name="Google Shape;219;p18"/>
          <p:cNvSpPr txBox="1"/>
          <p:nvPr/>
        </p:nvSpPr>
        <p:spPr>
          <a:xfrm>
            <a:off x="952500" y="2394495"/>
            <a:ext cx="3640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3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Account summary</a:t>
            </a:r>
            <a:endParaRPr/>
          </a:p>
        </p:txBody>
      </p:sp>
      <p:sp>
        <p:nvSpPr>
          <p:cNvPr id="220" name="Google Shape;220;p18"/>
          <p:cNvSpPr txBox="1"/>
          <p:nvPr/>
        </p:nvSpPr>
        <p:spPr>
          <a:xfrm>
            <a:off x="952500" y="2746920"/>
            <a:ext cx="3640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3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Payment plan journey</a:t>
            </a:r>
            <a:endParaRPr/>
          </a:p>
        </p:txBody>
      </p:sp>
      <p:sp>
        <p:nvSpPr>
          <p:cNvPr id="221" name="Google Shape;221;p18"/>
          <p:cNvSpPr txBox="1"/>
          <p:nvPr/>
        </p:nvSpPr>
        <p:spPr>
          <a:xfrm>
            <a:off x="952500" y="3099345"/>
            <a:ext cx="3640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3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Interaction history</a:t>
            </a:r>
            <a:endParaRPr/>
          </a:p>
        </p:txBody>
      </p:sp>
      <p:sp>
        <p:nvSpPr>
          <p:cNvPr id="222" name="Google Shape;222;p18"/>
          <p:cNvSpPr txBox="1"/>
          <p:nvPr/>
        </p:nvSpPr>
        <p:spPr>
          <a:xfrm>
            <a:off x="952500" y="3451770"/>
            <a:ext cx="3640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3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Portal data tracking</a:t>
            </a:r>
            <a:endParaRPr/>
          </a:p>
        </p:txBody>
      </p:sp>
      <p:sp>
        <p:nvSpPr>
          <p:cNvPr id="223" name="Google Shape;223;p18"/>
          <p:cNvSpPr txBox="1"/>
          <p:nvPr/>
        </p:nvSpPr>
        <p:spPr>
          <a:xfrm>
            <a:off x="4737050" y="2042070"/>
            <a:ext cx="29748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3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Automating specialist routing (tailored plans, hardship, legal)</a:t>
            </a:r>
            <a:endParaRPr/>
          </a:p>
        </p:txBody>
      </p:sp>
      <p:sp>
        <p:nvSpPr>
          <p:cNvPr id="224" name="Google Shape;224;p18"/>
          <p:cNvSpPr txBox="1"/>
          <p:nvPr/>
        </p:nvSpPr>
        <p:spPr>
          <a:xfrm>
            <a:off x="4737050" y="2672506"/>
            <a:ext cx="2974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3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Entire legacy data rework</a:t>
            </a:r>
            <a:endParaRPr/>
          </a:p>
        </p:txBody>
      </p:sp>
      <p:sp>
        <p:nvSpPr>
          <p:cNvPr id="225" name="Google Shape;225;p18"/>
          <p:cNvSpPr txBox="1"/>
          <p:nvPr/>
        </p:nvSpPr>
        <p:spPr>
          <a:xfrm>
            <a:off x="4737050" y="3054399"/>
            <a:ext cx="2974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3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Account detail alterations</a:t>
            </a:r>
            <a:endParaRPr/>
          </a:p>
        </p:txBody>
      </p:sp>
      <p:sp>
        <p:nvSpPr>
          <p:cNvPr id="226" name="Google Shape;226;p18"/>
          <p:cNvSpPr txBox="1"/>
          <p:nvPr/>
        </p:nvSpPr>
        <p:spPr>
          <a:xfrm>
            <a:off x="8521600" y="2042070"/>
            <a:ext cx="29748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3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Not trying to automate human judgement</a:t>
            </a:r>
            <a:endParaRPr/>
          </a:p>
        </p:txBody>
      </p:sp>
      <p:sp>
        <p:nvSpPr>
          <p:cNvPr id="227" name="Google Shape;227;p18"/>
          <p:cNvSpPr txBox="1"/>
          <p:nvPr/>
        </p:nvSpPr>
        <p:spPr>
          <a:xfrm>
            <a:off x="8521600" y="2691556"/>
            <a:ext cx="29748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3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Not trying to completely transform large internal systems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9"/>
          <p:cNvSpPr/>
          <p:nvPr/>
        </p:nvSpPr>
        <p:spPr>
          <a:xfrm>
            <a:off x="533400" y="1051470"/>
            <a:ext cx="3555950" cy="5387429"/>
          </a:xfrm>
          <a:prstGeom prst="roundRect">
            <a:avLst>
              <a:gd fmla="val 321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9"/>
          <p:cNvSpPr/>
          <p:nvPr/>
        </p:nvSpPr>
        <p:spPr>
          <a:xfrm>
            <a:off x="4317950" y="1051470"/>
            <a:ext cx="3555950" cy="5387429"/>
          </a:xfrm>
          <a:prstGeom prst="roundRect">
            <a:avLst>
              <a:gd fmla="val 321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9"/>
          <p:cNvSpPr/>
          <p:nvPr/>
        </p:nvSpPr>
        <p:spPr>
          <a:xfrm>
            <a:off x="8102500" y="1051470"/>
            <a:ext cx="3555950" cy="5387429"/>
          </a:xfrm>
          <a:prstGeom prst="roundRect">
            <a:avLst>
              <a:gd fmla="val 321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35" name="Google Shape;235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9425" y="3842874"/>
            <a:ext cx="66675" cy="114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6" name="Google Shape;23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9425" y="4100049"/>
            <a:ext cx="66675" cy="114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7" name="Google Shape;23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9425" y="4357224"/>
            <a:ext cx="66675" cy="114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8" name="Google Shape;238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9425" y="4614399"/>
            <a:ext cx="66675" cy="1143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19"/>
          <p:cNvSpPr txBox="1"/>
          <p:nvPr/>
        </p:nvSpPr>
        <p:spPr>
          <a:xfrm>
            <a:off x="533400" y="419100"/>
            <a:ext cx="11658600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TO-BE WORKFLOW AND PROTOTYPE</a:t>
            </a:r>
            <a:endParaRPr/>
          </a:p>
        </p:txBody>
      </p:sp>
      <p:sp>
        <p:nvSpPr>
          <p:cNvPr id="240" name="Google Shape;240;p19"/>
          <p:cNvSpPr txBox="1"/>
          <p:nvPr/>
        </p:nvSpPr>
        <p:spPr>
          <a:xfrm>
            <a:off x="771525" y="1327695"/>
            <a:ext cx="38496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E3A8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01</a:t>
            </a:r>
            <a:endParaRPr/>
          </a:p>
        </p:txBody>
      </p:sp>
      <p:sp>
        <p:nvSpPr>
          <p:cNvPr id="241" name="Google Shape;241;p19"/>
          <p:cNvSpPr txBox="1"/>
          <p:nvPr/>
        </p:nvSpPr>
        <p:spPr>
          <a:xfrm>
            <a:off x="771525" y="1594395"/>
            <a:ext cx="4042106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2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MAIN JOURNEY</a:t>
            </a:r>
            <a:endParaRPr/>
          </a:p>
        </p:txBody>
      </p:sp>
      <p:sp>
        <p:nvSpPr>
          <p:cNvPr id="242" name="Google Shape;242;p19"/>
          <p:cNvSpPr txBox="1"/>
          <p:nvPr/>
        </p:nvSpPr>
        <p:spPr>
          <a:xfrm>
            <a:off x="4556075" y="1327695"/>
            <a:ext cx="38496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E3A8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02</a:t>
            </a:r>
            <a:endParaRPr/>
          </a:p>
        </p:txBody>
      </p:sp>
      <p:sp>
        <p:nvSpPr>
          <p:cNvPr id="243" name="Google Shape;243;p19"/>
          <p:cNvSpPr txBox="1"/>
          <p:nvPr/>
        </p:nvSpPr>
        <p:spPr>
          <a:xfrm>
            <a:off x="4556075" y="1594395"/>
            <a:ext cx="4042106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2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EXCEPTION HANDLING</a:t>
            </a:r>
            <a:endParaRPr/>
          </a:p>
        </p:txBody>
      </p:sp>
      <p:sp>
        <p:nvSpPr>
          <p:cNvPr id="244" name="Google Shape;244;p19"/>
          <p:cNvSpPr txBox="1"/>
          <p:nvPr/>
        </p:nvSpPr>
        <p:spPr>
          <a:xfrm>
            <a:off x="8340625" y="1327695"/>
            <a:ext cx="38496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E3A8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03</a:t>
            </a:r>
            <a:endParaRPr/>
          </a:p>
        </p:txBody>
      </p:sp>
      <p:sp>
        <p:nvSpPr>
          <p:cNvPr id="245" name="Google Shape;245;p19"/>
          <p:cNvSpPr txBox="1"/>
          <p:nvPr/>
        </p:nvSpPr>
        <p:spPr>
          <a:xfrm>
            <a:off x="8340625" y="1594395"/>
            <a:ext cx="3851374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2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CONTEXT &amp; AUDIT</a:t>
            </a:r>
            <a:endParaRPr/>
          </a:p>
        </p:txBody>
      </p:sp>
      <p:sp>
        <p:nvSpPr>
          <p:cNvPr id="246" name="Google Shape;246;p19"/>
          <p:cNvSpPr txBox="1"/>
          <p:nvPr/>
        </p:nvSpPr>
        <p:spPr>
          <a:xfrm>
            <a:off x="771525" y="1956345"/>
            <a:ext cx="3849625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• Customer Verification</a:t>
            </a:r>
            <a:endParaRPr/>
          </a:p>
        </p:txBody>
      </p:sp>
      <p:sp>
        <p:nvSpPr>
          <p:cNvPr id="247" name="Google Shape;247;p19"/>
          <p:cNvSpPr txBox="1"/>
          <p:nvPr/>
        </p:nvSpPr>
        <p:spPr>
          <a:xfrm>
            <a:off x="904875" y="2184945"/>
            <a:ext cx="3682937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Identity verified upon entry</a:t>
            </a:r>
            <a:endParaRPr/>
          </a:p>
        </p:txBody>
      </p:sp>
      <p:sp>
        <p:nvSpPr>
          <p:cNvPr id="248" name="Google Shape;248;p19"/>
          <p:cNvSpPr txBox="1"/>
          <p:nvPr/>
        </p:nvSpPr>
        <p:spPr>
          <a:xfrm>
            <a:off x="771525" y="2499270"/>
            <a:ext cx="3849625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• Self-Serve Options</a:t>
            </a:r>
            <a:endParaRPr/>
          </a:p>
        </p:txBody>
      </p:sp>
      <p:sp>
        <p:nvSpPr>
          <p:cNvPr id="249" name="Google Shape;249;p19"/>
          <p:cNvSpPr txBox="1"/>
          <p:nvPr/>
        </p:nvSpPr>
        <p:spPr>
          <a:xfrm>
            <a:off x="904875" y="2727870"/>
            <a:ext cx="30416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Account summary &amp; payment plans displayed</a:t>
            </a:r>
            <a:endParaRPr/>
          </a:p>
        </p:txBody>
      </p:sp>
      <p:sp>
        <p:nvSpPr>
          <p:cNvPr id="250" name="Google Shape;250;p19"/>
          <p:cNvSpPr txBox="1"/>
          <p:nvPr/>
        </p:nvSpPr>
        <p:spPr>
          <a:xfrm>
            <a:off x="771525" y="3242220"/>
            <a:ext cx="3849625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• Plan Commitment</a:t>
            </a:r>
            <a:endParaRPr/>
          </a:p>
        </p:txBody>
      </p:sp>
      <p:sp>
        <p:nvSpPr>
          <p:cNvPr id="251" name="Google Shape;251;p19"/>
          <p:cNvSpPr txBox="1"/>
          <p:nvPr/>
        </p:nvSpPr>
        <p:spPr>
          <a:xfrm>
            <a:off x="904875" y="3470820"/>
            <a:ext cx="30416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Customer commits &amp; logged to audit trail</a:t>
            </a:r>
            <a:endParaRPr/>
          </a:p>
        </p:txBody>
      </p:sp>
      <p:sp>
        <p:nvSpPr>
          <p:cNvPr id="252" name="Google Shape;252;p19"/>
          <p:cNvSpPr txBox="1"/>
          <p:nvPr/>
        </p:nvSpPr>
        <p:spPr>
          <a:xfrm>
            <a:off x="771525" y="3985170"/>
            <a:ext cx="3849625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• Rep Visibility</a:t>
            </a:r>
            <a:endParaRPr/>
          </a:p>
        </p:txBody>
      </p:sp>
      <p:sp>
        <p:nvSpPr>
          <p:cNvPr id="253" name="Google Shape;253;p19"/>
          <p:cNvSpPr txBox="1"/>
          <p:nvPr/>
        </p:nvSpPr>
        <p:spPr>
          <a:xfrm>
            <a:off x="904875" y="4213770"/>
            <a:ext cx="3682937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Full history visible (no re-keying)</a:t>
            </a:r>
            <a:endParaRPr/>
          </a:p>
        </p:txBody>
      </p:sp>
      <p:sp>
        <p:nvSpPr>
          <p:cNvPr id="254" name="Google Shape;254;p19"/>
          <p:cNvSpPr txBox="1"/>
          <p:nvPr/>
        </p:nvSpPr>
        <p:spPr>
          <a:xfrm>
            <a:off x="4556075" y="1956345"/>
            <a:ext cx="3849625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• Direct Agent Routing</a:t>
            </a:r>
            <a:endParaRPr/>
          </a:p>
        </p:txBody>
      </p:sp>
      <p:sp>
        <p:nvSpPr>
          <p:cNvPr id="255" name="Google Shape;255;p19"/>
          <p:cNvSpPr txBox="1"/>
          <p:nvPr/>
        </p:nvSpPr>
        <p:spPr>
          <a:xfrm>
            <a:off x="4689425" y="2184945"/>
            <a:ext cx="3041700" cy="4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Non self-serve eligible cases routed to representative queue</a:t>
            </a:r>
            <a:endParaRPr/>
          </a:p>
        </p:txBody>
      </p:sp>
      <p:sp>
        <p:nvSpPr>
          <p:cNvPr id="256" name="Google Shape;256;p19"/>
          <p:cNvSpPr txBox="1"/>
          <p:nvPr/>
        </p:nvSpPr>
        <p:spPr>
          <a:xfrm>
            <a:off x="4556075" y="3533312"/>
            <a:ext cx="3849600" cy="1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• Reroute Triggers</a:t>
            </a:r>
            <a:endParaRPr/>
          </a:p>
        </p:txBody>
      </p:sp>
      <p:sp>
        <p:nvSpPr>
          <p:cNvPr id="257" name="Google Shape;257;p19"/>
          <p:cNvSpPr txBox="1"/>
          <p:nvPr/>
        </p:nvSpPr>
        <p:spPr>
          <a:xfrm>
            <a:off x="8340625" y="1956345"/>
            <a:ext cx="3849625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• Case History Logging</a:t>
            </a:r>
            <a:endParaRPr/>
          </a:p>
        </p:txBody>
      </p:sp>
      <p:sp>
        <p:nvSpPr>
          <p:cNvPr id="258" name="Google Shape;258;p19"/>
          <p:cNvSpPr txBox="1"/>
          <p:nvPr/>
        </p:nvSpPr>
        <p:spPr>
          <a:xfrm>
            <a:off x="8473975" y="2184945"/>
            <a:ext cx="3041600" cy="4265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All interactions added to case history for complete traceability</a:t>
            </a:r>
            <a:endParaRPr/>
          </a:p>
        </p:txBody>
      </p:sp>
      <p:sp>
        <p:nvSpPr>
          <p:cNvPr id="259" name="Google Shape;259;p19"/>
          <p:cNvSpPr txBox="1"/>
          <p:nvPr/>
        </p:nvSpPr>
        <p:spPr>
          <a:xfrm>
            <a:off x="8340625" y="2744837"/>
            <a:ext cx="3849625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• Incomplete Journeys</a:t>
            </a:r>
            <a:endParaRPr/>
          </a:p>
        </p:txBody>
      </p:sp>
      <p:sp>
        <p:nvSpPr>
          <p:cNvPr id="260" name="Google Shape;260;p19"/>
          <p:cNvSpPr txBox="1"/>
          <p:nvPr/>
        </p:nvSpPr>
        <p:spPr>
          <a:xfrm>
            <a:off x="8473975" y="2973437"/>
            <a:ext cx="3041600" cy="4265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Session timeouts &amp; abandoned sessions captured automatically</a:t>
            </a:r>
            <a:endParaRPr/>
          </a:p>
        </p:txBody>
      </p:sp>
      <p:sp>
        <p:nvSpPr>
          <p:cNvPr id="261" name="Google Shape;261;p19"/>
          <p:cNvSpPr txBox="1"/>
          <p:nvPr/>
        </p:nvSpPr>
        <p:spPr>
          <a:xfrm>
            <a:off x="8340625" y="3533328"/>
            <a:ext cx="3849625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• Seamless Handoff</a:t>
            </a:r>
            <a:endParaRPr/>
          </a:p>
        </p:txBody>
      </p:sp>
      <p:sp>
        <p:nvSpPr>
          <p:cNvPr id="262" name="Google Shape;262;p19"/>
          <p:cNvSpPr txBox="1"/>
          <p:nvPr/>
        </p:nvSpPr>
        <p:spPr>
          <a:xfrm>
            <a:off x="8473975" y="3761928"/>
            <a:ext cx="3041600" cy="4265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Prevents re-contact friction and manual data re-entry</a:t>
            </a:r>
            <a:endParaRPr/>
          </a:p>
        </p:txBody>
      </p:sp>
      <p:sp>
        <p:nvSpPr>
          <p:cNvPr id="263" name="Google Shape;263;p19"/>
          <p:cNvSpPr txBox="1"/>
          <p:nvPr/>
        </p:nvSpPr>
        <p:spPr>
          <a:xfrm>
            <a:off x="4832300" y="3800012"/>
            <a:ext cx="3540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Failed verification</a:t>
            </a:r>
            <a:endParaRPr/>
          </a:p>
        </p:txBody>
      </p:sp>
      <p:sp>
        <p:nvSpPr>
          <p:cNvPr id="264" name="Google Shape;264;p19"/>
          <p:cNvSpPr txBox="1"/>
          <p:nvPr/>
        </p:nvSpPr>
        <p:spPr>
          <a:xfrm>
            <a:off x="4832300" y="4057187"/>
            <a:ext cx="3540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Self-reported hardship</a:t>
            </a:r>
            <a:endParaRPr/>
          </a:p>
        </p:txBody>
      </p:sp>
      <p:sp>
        <p:nvSpPr>
          <p:cNvPr id="265" name="Google Shape;265;p19"/>
          <p:cNvSpPr txBox="1"/>
          <p:nvPr/>
        </p:nvSpPr>
        <p:spPr>
          <a:xfrm>
            <a:off x="4832300" y="4314362"/>
            <a:ext cx="3540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Prefer human contact</a:t>
            </a:r>
            <a:endParaRPr/>
          </a:p>
        </p:txBody>
      </p:sp>
      <p:sp>
        <p:nvSpPr>
          <p:cNvPr id="266" name="Google Shape;266;p19"/>
          <p:cNvSpPr txBox="1"/>
          <p:nvPr/>
        </p:nvSpPr>
        <p:spPr>
          <a:xfrm>
            <a:off x="4832300" y="4571537"/>
            <a:ext cx="3540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Plan dispute</a:t>
            </a:r>
            <a:endParaRPr/>
          </a:p>
        </p:txBody>
      </p:sp>
      <p:sp>
        <p:nvSpPr>
          <p:cNvPr id="267" name="Google Shape;267;p19"/>
          <p:cNvSpPr txBox="1"/>
          <p:nvPr/>
        </p:nvSpPr>
        <p:spPr>
          <a:xfrm>
            <a:off x="4556075" y="2732287"/>
            <a:ext cx="3849600" cy="1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• </a:t>
            </a:r>
            <a:r>
              <a:rPr b="1" lang="en-US" sz="1275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Re-r</a:t>
            </a:r>
            <a:r>
              <a:rPr b="1" i="0" lang="en-US" sz="12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outing</a:t>
            </a:r>
            <a:endParaRPr/>
          </a:p>
        </p:txBody>
      </p:sp>
      <p:sp>
        <p:nvSpPr>
          <p:cNvPr id="268" name="Google Shape;268;p19"/>
          <p:cNvSpPr txBox="1"/>
          <p:nvPr/>
        </p:nvSpPr>
        <p:spPr>
          <a:xfrm>
            <a:off x="4689425" y="2960887"/>
            <a:ext cx="3041700" cy="4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Failed self-serve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cases rerouted to representative queue with full context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20"/>
          <p:cNvSpPr/>
          <p:nvPr/>
        </p:nvSpPr>
        <p:spPr>
          <a:xfrm>
            <a:off x="533400" y="1051470"/>
            <a:ext cx="3555950" cy="5387429"/>
          </a:xfrm>
          <a:prstGeom prst="roundRect">
            <a:avLst>
              <a:gd fmla="val 321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0"/>
          <p:cNvSpPr/>
          <p:nvPr/>
        </p:nvSpPr>
        <p:spPr>
          <a:xfrm>
            <a:off x="4317950" y="1051470"/>
            <a:ext cx="3555950" cy="5387429"/>
          </a:xfrm>
          <a:prstGeom prst="roundRect">
            <a:avLst>
              <a:gd fmla="val 321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0"/>
          <p:cNvSpPr/>
          <p:nvPr/>
        </p:nvSpPr>
        <p:spPr>
          <a:xfrm>
            <a:off x="8102500" y="1051470"/>
            <a:ext cx="3555950" cy="5387429"/>
          </a:xfrm>
          <a:prstGeom prst="roundRect">
            <a:avLst>
              <a:gd fmla="val 321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0"/>
          <p:cNvSpPr txBox="1"/>
          <p:nvPr/>
        </p:nvSpPr>
        <p:spPr>
          <a:xfrm>
            <a:off x="533400" y="419100"/>
            <a:ext cx="11658600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DELIVERY READINESS (BACKLOG &amp; PROTOTYPE)</a:t>
            </a:r>
            <a:endParaRPr/>
          </a:p>
        </p:txBody>
      </p:sp>
      <p:sp>
        <p:nvSpPr>
          <p:cNvPr id="277" name="Google Shape;277;p20"/>
          <p:cNvSpPr txBox="1"/>
          <p:nvPr/>
        </p:nvSpPr>
        <p:spPr>
          <a:xfrm>
            <a:off x="771525" y="1327695"/>
            <a:ext cx="38496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E3A8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01</a:t>
            </a:r>
            <a:endParaRPr/>
          </a:p>
        </p:txBody>
      </p:sp>
      <p:sp>
        <p:nvSpPr>
          <p:cNvPr id="278" name="Google Shape;278;p20"/>
          <p:cNvSpPr txBox="1"/>
          <p:nvPr/>
        </p:nvSpPr>
        <p:spPr>
          <a:xfrm>
            <a:off x="771525" y="1594395"/>
            <a:ext cx="4042106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2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19 USER STORIES</a:t>
            </a:r>
            <a:endParaRPr/>
          </a:p>
        </p:txBody>
      </p:sp>
      <p:sp>
        <p:nvSpPr>
          <p:cNvPr id="279" name="Google Shape;279;p20"/>
          <p:cNvSpPr txBox="1"/>
          <p:nvPr/>
        </p:nvSpPr>
        <p:spPr>
          <a:xfrm>
            <a:off x="4556075" y="1327695"/>
            <a:ext cx="38496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E3A8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02</a:t>
            </a:r>
            <a:endParaRPr/>
          </a:p>
        </p:txBody>
      </p:sp>
      <p:sp>
        <p:nvSpPr>
          <p:cNvPr id="280" name="Google Shape;280;p20"/>
          <p:cNvSpPr txBox="1"/>
          <p:nvPr/>
        </p:nvSpPr>
        <p:spPr>
          <a:xfrm>
            <a:off x="4556075" y="1594395"/>
            <a:ext cx="4042106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2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KEY DEPENDENCIES</a:t>
            </a:r>
            <a:endParaRPr/>
          </a:p>
        </p:txBody>
      </p:sp>
      <p:sp>
        <p:nvSpPr>
          <p:cNvPr id="281" name="Google Shape;281;p20"/>
          <p:cNvSpPr txBox="1"/>
          <p:nvPr/>
        </p:nvSpPr>
        <p:spPr>
          <a:xfrm>
            <a:off x="8340625" y="1327695"/>
            <a:ext cx="38496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E3A8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03</a:t>
            </a:r>
            <a:endParaRPr/>
          </a:p>
        </p:txBody>
      </p:sp>
      <p:sp>
        <p:nvSpPr>
          <p:cNvPr id="282" name="Google Shape;282;p20"/>
          <p:cNvSpPr txBox="1"/>
          <p:nvPr/>
        </p:nvSpPr>
        <p:spPr>
          <a:xfrm>
            <a:off x="8340625" y="1594395"/>
            <a:ext cx="3851374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2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BACKLOG UTILISATION</a:t>
            </a:r>
            <a:endParaRPr/>
          </a:p>
        </p:txBody>
      </p:sp>
      <p:sp>
        <p:nvSpPr>
          <p:cNvPr id="283" name="Google Shape;283;p20"/>
          <p:cNvSpPr txBox="1"/>
          <p:nvPr/>
        </p:nvSpPr>
        <p:spPr>
          <a:xfrm>
            <a:off x="771525" y="1975395"/>
            <a:ext cx="3849625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• Scope Alignment</a:t>
            </a:r>
            <a:endParaRPr/>
          </a:p>
        </p:txBody>
      </p:sp>
      <p:sp>
        <p:nvSpPr>
          <p:cNvPr id="284" name="Google Shape;284;p20"/>
          <p:cNvSpPr txBox="1"/>
          <p:nvPr/>
        </p:nvSpPr>
        <p:spPr>
          <a:xfrm>
            <a:off x="904875" y="2223045"/>
            <a:ext cx="3041600" cy="4694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Targeted at specific pain points / scope requirements</a:t>
            </a:r>
            <a:endParaRPr/>
          </a:p>
        </p:txBody>
      </p:sp>
      <p:sp>
        <p:nvSpPr>
          <p:cNvPr id="285" name="Google Shape;285;p20"/>
          <p:cNvSpPr txBox="1"/>
          <p:nvPr/>
        </p:nvSpPr>
        <p:spPr>
          <a:xfrm>
            <a:off x="771525" y="2863899"/>
            <a:ext cx="3849625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• High ROI Priority</a:t>
            </a:r>
            <a:endParaRPr/>
          </a:p>
        </p:txBody>
      </p:sp>
      <p:sp>
        <p:nvSpPr>
          <p:cNvPr id="286" name="Google Shape;286;p20"/>
          <p:cNvSpPr txBox="1"/>
          <p:nvPr/>
        </p:nvSpPr>
        <p:spPr>
          <a:xfrm>
            <a:off x="904875" y="3111549"/>
            <a:ext cx="3041600" cy="4694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Highest priority deliver ROI, or are key requirements to enable that</a:t>
            </a:r>
            <a:endParaRPr/>
          </a:p>
        </p:txBody>
      </p:sp>
      <p:sp>
        <p:nvSpPr>
          <p:cNvPr id="287" name="Google Shape;287;p20"/>
          <p:cNvSpPr txBox="1"/>
          <p:nvPr/>
        </p:nvSpPr>
        <p:spPr>
          <a:xfrm>
            <a:off x="4556075" y="1975395"/>
            <a:ext cx="3849625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• Primary Blocker</a:t>
            </a:r>
            <a:endParaRPr/>
          </a:p>
        </p:txBody>
      </p:sp>
      <p:sp>
        <p:nvSpPr>
          <p:cNvPr id="288" name="Google Shape;288;p20"/>
          <p:cNvSpPr txBox="1"/>
          <p:nvPr/>
        </p:nvSpPr>
        <p:spPr>
          <a:xfrm>
            <a:off x="4689425" y="2223045"/>
            <a:ext cx="3682937" cy="234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True blocker is ID verification</a:t>
            </a:r>
            <a:endParaRPr/>
          </a:p>
        </p:txBody>
      </p:sp>
      <p:sp>
        <p:nvSpPr>
          <p:cNvPr id="289" name="Google Shape;289;p20"/>
          <p:cNvSpPr txBox="1"/>
          <p:nvPr/>
        </p:nvSpPr>
        <p:spPr>
          <a:xfrm>
            <a:off x="4556075" y="2610147"/>
            <a:ext cx="3849625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• Payment Chain</a:t>
            </a:r>
            <a:endParaRPr/>
          </a:p>
        </p:txBody>
      </p:sp>
      <p:sp>
        <p:nvSpPr>
          <p:cNvPr id="290" name="Google Shape;290;p20"/>
          <p:cNvSpPr txBox="1"/>
          <p:nvPr/>
        </p:nvSpPr>
        <p:spPr>
          <a:xfrm>
            <a:off x="4689425" y="2857797"/>
            <a:ext cx="3682937" cy="234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Integration of the core payment chain</a:t>
            </a:r>
            <a:endParaRPr/>
          </a:p>
        </p:txBody>
      </p:sp>
      <p:sp>
        <p:nvSpPr>
          <p:cNvPr id="291" name="Google Shape;291;p20"/>
          <p:cNvSpPr txBox="1"/>
          <p:nvPr/>
        </p:nvSpPr>
        <p:spPr>
          <a:xfrm>
            <a:off x="4556075" y="3244899"/>
            <a:ext cx="3849625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• Parallel Tracks</a:t>
            </a:r>
            <a:endParaRPr/>
          </a:p>
        </p:txBody>
      </p:sp>
      <p:sp>
        <p:nvSpPr>
          <p:cNvPr id="292" name="Google Shape;292;p20"/>
          <p:cNvSpPr txBox="1"/>
          <p:nvPr/>
        </p:nvSpPr>
        <p:spPr>
          <a:xfrm>
            <a:off x="4689425" y="3492549"/>
            <a:ext cx="3041600" cy="4694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Plan &amp; payment can run parallel to exception handling</a:t>
            </a:r>
            <a:endParaRPr/>
          </a:p>
        </p:txBody>
      </p:sp>
      <p:sp>
        <p:nvSpPr>
          <p:cNvPr id="293" name="Google Shape;293;p20"/>
          <p:cNvSpPr txBox="1"/>
          <p:nvPr/>
        </p:nvSpPr>
        <p:spPr>
          <a:xfrm>
            <a:off x="8340625" y="1975395"/>
            <a:ext cx="3849625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• Work Sequencing</a:t>
            </a:r>
            <a:endParaRPr/>
          </a:p>
        </p:txBody>
      </p:sp>
      <p:sp>
        <p:nvSpPr>
          <p:cNvPr id="294" name="Google Shape;294;p20"/>
          <p:cNvSpPr txBox="1"/>
          <p:nvPr/>
        </p:nvSpPr>
        <p:spPr>
          <a:xfrm>
            <a:off x="8473975" y="2223045"/>
            <a:ext cx="3041600" cy="4694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Prioritised work order and clear dependencies</a:t>
            </a:r>
            <a:endParaRPr/>
          </a:p>
        </p:txBody>
      </p:sp>
      <p:sp>
        <p:nvSpPr>
          <p:cNvPr id="295" name="Google Shape;295;p20"/>
          <p:cNvSpPr txBox="1"/>
          <p:nvPr/>
        </p:nvSpPr>
        <p:spPr>
          <a:xfrm>
            <a:off x="8340625" y="2863899"/>
            <a:ext cx="3849625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• Quality Assurance</a:t>
            </a:r>
            <a:endParaRPr/>
          </a:p>
        </p:txBody>
      </p:sp>
      <p:sp>
        <p:nvSpPr>
          <p:cNvPr id="296" name="Google Shape;296;p20"/>
          <p:cNvSpPr txBox="1"/>
          <p:nvPr/>
        </p:nvSpPr>
        <p:spPr>
          <a:xfrm>
            <a:off x="8473975" y="3111549"/>
            <a:ext cx="3041600" cy="4694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Every story has testable acceptance criteria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21"/>
          <p:cNvSpPr/>
          <p:nvPr/>
        </p:nvSpPr>
        <p:spPr>
          <a:xfrm>
            <a:off x="533400" y="1051470"/>
            <a:ext cx="5448300" cy="5387429"/>
          </a:xfrm>
          <a:prstGeom prst="roundRect">
            <a:avLst>
              <a:gd fmla="val 2121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21"/>
          <p:cNvSpPr/>
          <p:nvPr/>
        </p:nvSpPr>
        <p:spPr>
          <a:xfrm>
            <a:off x="6210300" y="1051470"/>
            <a:ext cx="5448300" cy="5387429"/>
          </a:xfrm>
          <a:prstGeom prst="roundRect">
            <a:avLst>
              <a:gd fmla="val 2121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03" name="Google Shape;303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9625" y="2127795"/>
            <a:ext cx="66675" cy="666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4" name="Google Shape;304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9625" y="2468760"/>
            <a:ext cx="66675" cy="666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5" name="Google Shape;305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9625" y="2809726"/>
            <a:ext cx="66675" cy="666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6" name="Google Shape;306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9625" y="3377356"/>
            <a:ext cx="66675" cy="666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7" name="Google Shape;307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9625" y="3718321"/>
            <a:ext cx="66675" cy="666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8" name="Google Shape;308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9625" y="4059287"/>
            <a:ext cx="66675" cy="666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9" name="Google Shape;309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86525" y="2127795"/>
            <a:ext cx="66675" cy="666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0" name="Google Shape;31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86525" y="2720131"/>
            <a:ext cx="66675" cy="666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1" name="Google Shape;311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86525" y="3107233"/>
            <a:ext cx="66675" cy="666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2" name="Google Shape;31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86525" y="3494335"/>
            <a:ext cx="66675" cy="66675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21"/>
          <p:cNvSpPr txBox="1"/>
          <p:nvPr/>
        </p:nvSpPr>
        <p:spPr>
          <a:xfrm>
            <a:off x="533400" y="419100"/>
            <a:ext cx="11658600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CHANGE RISKS AND MITIGATIONS</a:t>
            </a:r>
            <a:endParaRPr/>
          </a:p>
        </p:txBody>
      </p:sp>
      <p:sp>
        <p:nvSpPr>
          <p:cNvPr id="314" name="Google Shape;314;p21"/>
          <p:cNvSpPr txBox="1"/>
          <p:nvPr/>
        </p:nvSpPr>
        <p:spPr>
          <a:xfrm>
            <a:off x="809625" y="1346745"/>
            <a:ext cx="611981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E3A8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01</a:t>
            </a:r>
            <a:endParaRPr/>
          </a:p>
        </p:txBody>
      </p:sp>
      <p:sp>
        <p:nvSpPr>
          <p:cNvPr id="315" name="Google Shape;315;p21"/>
          <p:cNvSpPr txBox="1"/>
          <p:nvPr/>
        </p:nvSpPr>
        <p:spPr>
          <a:xfrm>
            <a:off x="809625" y="1632495"/>
            <a:ext cx="6425803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RISKS TO ADOPTION</a:t>
            </a:r>
            <a:endParaRPr/>
          </a:p>
        </p:txBody>
      </p:sp>
      <p:sp>
        <p:nvSpPr>
          <p:cNvPr id="316" name="Google Shape;316;p21"/>
          <p:cNvSpPr txBox="1"/>
          <p:nvPr/>
        </p:nvSpPr>
        <p:spPr>
          <a:xfrm>
            <a:off x="6486525" y="1346745"/>
            <a:ext cx="57054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E3A8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02</a:t>
            </a:r>
            <a:endParaRPr/>
          </a:p>
        </p:txBody>
      </p:sp>
      <p:sp>
        <p:nvSpPr>
          <p:cNvPr id="317" name="Google Shape;317;p21"/>
          <p:cNvSpPr txBox="1"/>
          <p:nvPr/>
        </p:nvSpPr>
        <p:spPr>
          <a:xfrm>
            <a:off x="6486525" y="1632495"/>
            <a:ext cx="5705475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EXECUTABLE MITIGATIONS</a:t>
            </a:r>
            <a:endParaRPr/>
          </a:p>
        </p:txBody>
      </p:sp>
      <p:sp>
        <p:nvSpPr>
          <p:cNvPr id="318" name="Google Shape;318;p21"/>
          <p:cNvSpPr txBox="1"/>
          <p:nvPr/>
        </p:nvSpPr>
        <p:spPr>
          <a:xfrm>
            <a:off x="971550" y="2042070"/>
            <a:ext cx="5957887" cy="2266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Fear of job displacement</a:t>
            </a:r>
            <a:endParaRPr/>
          </a:p>
        </p:txBody>
      </p:sp>
      <p:sp>
        <p:nvSpPr>
          <p:cNvPr id="319" name="Google Shape;319;p21"/>
          <p:cNvSpPr txBox="1"/>
          <p:nvPr/>
        </p:nvSpPr>
        <p:spPr>
          <a:xfrm>
            <a:off x="971550" y="2383035"/>
            <a:ext cx="5957887" cy="2266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Portal rejected if unsupported cases return without context</a:t>
            </a:r>
            <a:endParaRPr/>
          </a:p>
        </p:txBody>
      </p:sp>
      <p:sp>
        <p:nvSpPr>
          <p:cNvPr id="320" name="Google Shape;320;p21"/>
          <p:cNvSpPr txBox="1"/>
          <p:nvPr/>
        </p:nvSpPr>
        <p:spPr>
          <a:xfrm>
            <a:off x="971550" y="2724001"/>
            <a:ext cx="4829175" cy="4533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Staff reliance on workarounds ("system slower than shortcuts")</a:t>
            </a:r>
            <a:endParaRPr/>
          </a:p>
        </p:txBody>
      </p:sp>
      <p:sp>
        <p:nvSpPr>
          <p:cNvPr id="321" name="Google Shape;321;p21"/>
          <p:cNvSpPr txBox="1"/>
          <p:nvPr/>
        </p:nvSpPr>
        <p:spPr>
          <a:xfrm>
            <a:off x="971550" y="3291631"/>
            <a:ext cx="5957887" cy="2266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Lack of observability of ongoing success</a:t>
            </a:r>
            <a:endParaRPr/>
          </a:p>
        </p:txBody>
      </p:sp>
      <p:sp>
        <p:nvSpPr>
          <p:cNvPr id="322" name="Google Shape;322;p21"/>
          <p:cNvSpPr txBox="1"/>
          <p:nvPr/>
        </p:nvSpPr>
        <p:spPr>
          <a:xfrm>
            <a:off x="971550" y="3632596"/>
            <a:ext cx="5957887" cy="2266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Regulatory issues with automated case handling</a:t>
            </a:r>
            <a:endParaRPr/>
          </a:p>
        </p:txBody>
      </p:sp>
      <p:sp>
        <p:nvSpPr>
          <p:cNvPr id="323" name="Google Shape;323;p21"/>
          <p:cNvSpPr txBox="1"/>
          <p:nvPr/>
        </p:nvSpPr>
        <p:spPr>
          <a:xfrm>
            <a:off x="971550" y="3973562"/>
            <a:ext cx="5957887" cy="2266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Teething problems or exploitation</a:t>
            </a:r>
            <a:endParaRPr/>
          </a:p>
        </p:txBody>
      </p:sp>
      <p:sp>
        <p:nvSpPr>
          <p:cNvPr id="324" name="Google Shape;324;p21"/>
          <p:cNvSpPr txBox="1"/>
          <p:nvPr/>
        </p:nvSpPr>
        <p:spPr>
          <a:xfrm>
            <a:off x="6648450" y="2634406"/>
            <a:ext cx="4829175" cy="234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Ongoing performance data collection</a:t>
            </a:r>
            <a:endParaRPr/>
          </a:p>
        </p:txBody>
      </p:sp>
      <p:sp>
        <p:nvSpPr>
          <p:cNvPr id="325" name="Google Shape;325;p21"/>
          <p:cNvSpPr txBox="1"/>
          <p:nvPr/>
        </p:nvSpPr>
        <p:spPr>
          <a:xfrm>
            <a:off x="6648450" y="3021508"/>
            <a:ext cx="4829175" cy="234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Routing complex cases directly to representative team</a:t>
            </a:r>
            <a:endParaRPr/>
          </a:p>
        </p:txBody>
      </p:sp>
      <p:sp>
        <p:nvSpPr>
          <p:cNvPr id="326" name="Google Shape;326;p21"/>
          <p:cNvSpPr txBox="1"/>
          <p:nvPr/>
        </p:nvSpPr>
        <p:spPr>
          <a:xfrm>
            <a:off x="6648450" y="3408610"/>
            <a:ext cx="4829175" cy="234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Thorough testing in Phase-1 before full adoption</a:t>
            </a:r>
            <a:endParaRPr/>
          </a:p>
        </p:txBody>
      </p:sp>
      <p:sp>
        <p:nvSpPr>
          <p:cNvPr id="327" name="Google Shape;327;p21"/>
          <p:cNvSpPr txBox="1"/>
          <p:nvPr/>
        </p:nvSpPr>
        <p:spPr>
          <a:xfrm>
            <a:off x="6648450" y="2042070"/>
            <a:ext cx="5179218" cy="2266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Explanatory staff presentation prior to integration</a:t>
            </a:r>
            <a:endParaRPr/>
          </a:p>
        </p:txBody>
      </p:sp>
      <p:sp>
        <p:nvSpPr>
          <p:cNvPr id="328" name="Google Shape;328;p21"/>
          <p:cNvSpPr txBox="1"/>
          <p:nvPr/>
        </p:nvSpPr>
        <p:spPr>
          <a:xfrm>
            <a:off x="6648450" y="2268735"/>
            <a:ext cx="5179218" cy="2132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Demonstrating efficiency &amp; clarifying non-replaced tasks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22"/>
          <p:cNvSpPr/>
          <p:nvPr/>
        </p:nvSpPr>
        <p:spPr>
          <a:xfrm>
            <a:off x="533400" y="1051470"/>
            <a:ext cx="5448300" cy="5387429"/>
          </a:xfrm>
          <a:prstGeom prst="roundRect">
            <a:avLst>
              <a:gd fmla="val 2121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22"/>
          <p:cNvSpPr/>
          <p:nvPr/>
        </p:nvSpPr>
        <p:spPr>
          <a:xfrm>
            <a:off x="6210300" y="1051470"/>
            <a:ext cx="5448300" cy="5387429"/>
          </a:xfrm>
          <a:prstGeom prst="roundRect">
            <a:avLst>
              <a:gd fmla="val 2121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22"/>
          <p:cNvSpPr/>
          <p:nvPr/>
        </p:nvSpPr>
        <p:spPr>
          <a:xfrm>
            <a:off x="945350" y="2025245"/>
            <a:ext cx="4686300" cy="610500"/>
          </a:xfrm>
          <a:prstGeom prst="roundRect">
            <a:avLst>
              <a:gd fmla="val 12481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22"/>
          <p:cNvSpPr/>
          <p:nvPr/>
        </p:nvSpPr>
        <p:spPr>
          <a:xfrm>
            <a:off x="945350" y="2626213"/>
            <a:ext cx="46863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22"/>
          <p:cNvSpPr/>
          <p:nvPr/>
        </p:nvSpPr>
        <p:spPr>
          <a:xfrm>
            <a:off x="945350" y="2025245"/>
            <a:ext cx="46863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22"/>
          <p:cNvSpPr/>
          <p:nvPr/>
        </p:nvSpPr>
        <p:spPr>
          <a:xfrm>
            <a:off x="945350" y="2025245"/>
            <a:ext cx="38100" cy="6105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22"/>
          <p:cNvSpPr/>
          <p:nvPr/>
        </p:nvSpPr>
        <p:spPr>
          <a:xfrm>
            <a:off x="5622125" y="2025245"/>
            <a:ext cx="9600" cy="6105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22"/>
          <p:cNvSpPr txBox="1"/>
          <p:nvPr/>
        </p:nvSpPr>
        <p:spPr>
          <a:xfrm>
            <a:off x="533400" y="419100"/>
            <a:ext cx="11658600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APPROVAL ASK &amp; NEXT STEPS</a:t>
            </a:r>
            <a:endParaRPr/>
          </a:p>
        </p:txBody>
      </p:sp>
      <p:sp>
        <p:nvSpPr>
          <p:cNvPr id="341" name="Google Shape;341;p22"/>
          <p:cNvSpPr txBox="1"/>
          <p:nvPr/>
        </p:nvSpPr>
        <p:spPr>
          <a:xfrm>
            <a:off x="847725" y="1365795"/>
            <a:ext cx="602456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E3A8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01</a:t>
            </a:r>
            <a:endParaRPr/>
          </a:p>
        </p:txBody>
      </p:sp>
      <p:sp>
        <p:nvSpPr>
          <p:cNvPr id="342" name="Google Shape;342;p22"/>
          <p:cNvSpPr txBox="1"/>
          <p:nvPr/>
        </p:nvSpPr>
        <p:spPr>
          <a:xfrm>
            <a:off x="847725" y="1651545"/>
            <a:ext cx="632579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APPROVAL REQUEST</a:t>
            </a:r>
            <a:endParaRPr/>
          </a:p>
        </p:txBody>
      </p:sp>
      <p:sp>
        <p:nvSpPr>
          <p:cNvPr id="343" name="Google Shape;343;p22"/>
          <p:cNvSpPr txBox="1"/>
          <p:nvPr/>
        </p:nvSpPr>
        <p:spPr>
          <a:xfrm>
            <a:off x="6524625" y="1365795"/>
            <a:ext cx="56673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E3A8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02</a:t>
            </a:r>
            <a:endParaRPr/>
          </a:p>
        </p:txBody>
      </p:sp>
      <p:sp>
        <p:nvSpPr>
          <p:cNvPr id="344" name="Google Shape;344;p22"/>
          <p:cNvSpPr txBox="1"/>
          <p:nvPr/>
        </p:nvSpPr>
        <p:spPr>
          <a:xfrm>
            <a:off x="6524625" y="1651545"/>
            <a:ext cx="5667375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NEXT STEPS</a:t>
            </a:r>
            <a:endParaRPr/>
          </a:p>
        </p:txBody>
      </p:sp>
      <p:sp>
        <p:nvSpPr>
          <p:cNvPr id="345" name="Google Shape;345;p22"/>
          <p:cNvSpPr txBox="1"/>
          <p:nvPr/>
        </p:nvSpPr>
        <p:spPr>
          <a:xfrm>
            <a:off x="1154900" y="2206220"/>
            <a:ext cx="5369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Funding for a phase 1 pilot implementation</a:t>
            </a:r>
            <a:endParaRPr/>
          </a:p>
        </p:txBody>
      </p:sp>
      <p:sp>
        <p:nvSpPr>
          <p:cNvPr id="346" name="Google Shape;346;p22"/>
          <p:cNvSpPr txBox="1"/>
          <p:nvPr/>
        </p:nvSpPr>
        <p:spPr>
          <a:xfrm>
            <a:off x="6524625" y="2080170"/>
            <a:ext cx="5667375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• Portal Integration</a:t>
            </a:r>
            <a:endParaRPr/>
          </a:p>
        </p:txBody>
      </p:sp>
      <p:sp>
        <p:nvSpPr>
          <p:cNvPr id="347" name="Google Shape;347;p22"/>
          <p:cNvSpPr txBox="1"/>
          <p:nvPr/>
        </p:nvSpPr>
        <p:spPr>
          <a:xfrm>
            <a:off x="6657975" y="2337345"/>
            <a:ext cx="4781550" cy="4694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Turn prototype into functioning portal with API and database integration</a:t>
            </a:r>
            <a:endParaRPr/>
          </a:p>
        </p:txBody>
      </p:sp>
      <p:sp>
        <p:nvSpPr>
          <p:cNvPr id="348" name="Google Shape;348;p22"/>
          <p:cNvSpPr txBox="1"/>
          <p:nvPr/>
        </p:nvSpPr>
        <p:spPr>
          <a:xfrm>
            <a:off x="6524625" y="2978199"/>
            <a:ext cx="5667375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• Test Launch</a:t>
            </a:r>
            <a:endParaRPr/>
          </a:p>
        </p:txBody>
      </p:sp>
      <p:sp>
        <p:nvSpPr>
          <p:cNvPr id="349" name="Google Shape;349;p22"/>
          <p:cNvSpPr txBox="1"/>
          <p:nvPr/>
        </p:nvSpPr>
        <p:spPr>
          <a:xfrm>
            <a:off x="6657975" y="3235374"/>
            <a:ext cx="4781550" cy="4694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Execute initial test phase to validate user experience and workflow</a:t>
            </a:r>
            <a:endParaRPr/>
          </a:p>
        </p:txBody>
      </p:sp>
      <p:sp>
        <p:nvSpPr>
          <p:cNvPr id="350" name="Google Shape;350;p22"/>
          <p:cNvSpPr txBox="1"/>
          <p:nvPr/>
        </p:nvSpPr>
        <p:spPr>
          <a:xfrm>
            <a:off x="6524625" y="3876228"/>
            <a:ext cx="5667375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• Development Cycle</a:t>
            </a:r>
            <a:endParaRPr/>
          </a:p>
        </p:txBody>
      </p:sp>
      <p:sp>
        <p:nvSpPr>
          <p:cNvPr id="351" name="Google Shape;351;p22"/>
          <p:cNvSpPr txBox="1"/>
          <p:nvPr/>
        </p:nvSpPr>
        <p:spPr>
          <a:xfrm>
            <a:off x="6657975" y="4133403"/>
            <a:ext cx="5534025" cy="234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Iterative rollout and enhancement post-pilot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