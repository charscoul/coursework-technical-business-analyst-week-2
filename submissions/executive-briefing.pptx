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us Jakarta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usJakartaSans-bold.fntdata"/><Relationship Id="rId16" Type="http://schemas.openxmlformats.org/officeDocument/2006/relationships/font" Target="fonts/PlusJakarta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boldItalic.fntdata"/><Relationship Id="rId6" Type="http://schemas.openxmlformats.org/officeDocument/2006/relationships/slide" Target="slides/slide1.xml"/><Relationship Id="rId18" Type="http://schemas.openxmlformats.org/officeDocument/2006/relationships/font" Target="fonts/PlusJakarta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Propose immediate funding approval for Phase 1 of the Smart-Recovery initiative to address growing collections capacity strain.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Key Stats &amp; Figures: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Scope Target:</a:t>
            </a:r>
            <a:r>
              <a:rPr lang="en-US">
                <a:solidFill>
                  <a:schemeClr val="dk1"/>
                </a:solidFill>
              </a:rPr>
              <a:t> Focuses strictly on simple self-service journeys (38% of total account volume) while preserving human handling for complex cases.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Operational Baseline:</a:t>
            </a:r>
            <a:r>
              <a:rPr lang="en-US">
                <a:solidFill>
                  <a:schemeClr val="dk1"/>
                </a:solidFill>
              </a:rPr>
              <a:t> 50 representatives currently managing over 100,000 delinquent accounts.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Legacy Trust’s customer acquisition grew, but debt recovery infrastructure stalled, forcing heavy reliance on fragile workarounds.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Key Stats &amp; Figures: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Volume Strain:</a:t>
            </a:r>
            <a:r>
              <a:rPr lang="en-US">
                <a:solidFill>
                  <a:schemeClr val="dk1"/>
                </a:solidFill>
              </a:rPr>
              <a:t> 100,000+ delinquent accounts across personal loans, credit cards, and auto finance handled by 50 representatives.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Admin Drain:</a:t>
            </a:r>
            <a:r>
              <a:rPr lang="en-US">
                <a:solidFill>
                  <a:schemeClr val="dk1"/>
                </a:solidFill>
              </a:rPr>
              <a:t> Representatives spend ~71% of their daily time on manual admin (spreadsheet reconciliation, email tracking, status checks).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Financial Leakage:</a:t>
            </a:r>
            <a:r>
              <a:rPr lang="en-US">
                <a:solidFill>
                  <a:schemeClr val="dk1"/>
                </a:solidFill>
              </a:rPr>
              <a:t> Delayed actions, missed callbacks, and uncoordinated contact lead to an estimated 15% loss in recoverable revenue.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Empirical analysis across 75+ stakeholder observations highlights six major pain point categories and three structural root causes.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Key Stats &amp; Figures: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High-Impact Pain Point Concentration:</a:t>
            </a:r>
            <a:r>
              <a:rPr lang="en-US">
                <a:solidFill>
                  <a:schemeClr val="dk1"/>
                </a:solidFill>
              </a:rPr>
              <a:t> 19 visibility issues, 16 duplication issues, and 15 customer friction pain points.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Prioritized Jobs-To-Be-Done:</a:t>
            </a:r>
            <a:r>
              <a:rPr lang="en-US">
                <a:solidFill>
                  <a:schemeClr val="dk1"/>
                </a:solidFill>
              </a:rPr>
              <a:t> Focused on JTBD-01 (Balance Clarity), JTBD-02 (Case History Sync), JTBD-03 (Simple Case Triage), and JTBD-05 (Audit Completeness).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Phase 1 capabilities deliver positive 12-month returns driven by recovery uplifts and hard representative time savings.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Key Stats &amp; Figures: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Payment-Plan Selection (SO-03):</a:t>
            </a:r>
            <a:r>
              <a:rPr lang="en-US">
                <a:solidFill>
                  <a:schemeClr val="dk1"/>
                </a:solidFill>
              </a:rPr>
              <a:t> Conservative 12.94x ROI (£1.09M Net) | Baseline 17.42x ROI (£1.48M Net) | Optimistic 34.58x ROI. Payback period: &lt; 1 month.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Promise-to-Pay Capture (SO-04):</a:t>
            </a:r>
            <a:r>
              <a:rPr lang="en-US">
                <a:solidFill>
                  <a:schemeClr val="dk1"/>
                </a:solidFill>
              </a:rPr>
              <a:t> Conservative 7.64x ROI (£649k Net) | Baseline 10.08x ROI (£857k Net) | Optimistic 20.17x ROI.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Portal Interaction History (SO-06):</a:t>
            </a:r>
            <a:r>
              <a:rPr lang="en-US">
                <a:solidFill>
                  <a:schemeClr val="dk1"/>
                </a:solidFill>
              </a:rPr>
              <a:t> Conservative 1.45x ROI (£124k Net) | Baseline 8.31x ROI (£706k Net) | Optimistic 30.38x ROI.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Financial Inputs:</a:t>
            </a:r>
            <a:r>
              <a:rPr lang="en-US">
                <a:solidFill>
                  <a:schemeClr val="dk1"/>
                </a:solidFill>
              </a:rPr>
              <a:t> £22/hr blended representative cost, £8M baseline monthly recovery, 38% straightforward case share. Implementation costs: £45k (Low) to £85k (Medium) per capability.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Strict MoSCoW prioritization maintains delivery realism and protects project timelines.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Key Stats &amp; Figures: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In Scope (Must):</a:t>
            </a:r>
            <a:r>
              <a:rPr lang="en-US">
                <a:solidFill>
                  <a:schemeClr val="dk1"/>
                </a:solidFill>
              </a:rPr>
              <a:t> ID Verification, Real-Time Balance Summary, Payment Plan Selection, Promise-to-Pay Capture, Representative Portal History, Telemetry Tracking.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Excluded (Won't):</a:t>
            </a:r>
            <a:r>
              <a:rPr lang="en-US">
                <a:solidFill>
                  <a:schemeClr val="dk1"/>
                </a:solidFill>
              </a:rPr>
              <a:t> Hardship assessments, bespoke repayment negotiations, legal workflows, account detail changes, full legacy database redesigns.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Standard self-service flows automatically; exceptions immediately route to representatives with full context.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Key Stats &amp; Figures: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Deflection Target:</a:t>
            </a:r>
            <a:r>
              <a:rPr lang="en-US">
                <a:solidFill>
                  <a:schemeClr val="dk1"/>
                </a:solidFill>
              </a:rPr>
              <a:t> Handles 38% of straightforward accounts fully self-service.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Exception Triggers:</a:t>
            </a:r>
            <a:r>
              <a:rPr lang="en-US">
                <a:solidFill>
                  <a:schemeClr val="dk1"/>
                </a:solidFill>
              </a:rPr>
              <a:t> 3 failed ID verification attempts, self-reported hardship, plan disputes, or explicit rep requests.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Timeout Control:</a:t>
            </a:r>
            <a:r>
              <a:rPr lang="en-US">
                <a:solidFill>
                  <a:schemeClr val="dk1"/>
                </a:solidFill>
              </a:rPr>
              <a:t> Session pause after 3 minutes of inactivity to protect financial data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Requirements are mapped into 19 prioritized user stories across 6 structured epics in Jira.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Key Stats &amp; Figures: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Backlog Breakdown:</a:t>
            </a:r>
            <a:r>
              <a:rPr lang="en-US">
                <a:solidFill>
                  <a:schemeClr val="dk1"/>
                </a:solidFill>
              </a:rPr>
              <a:t> 19 User Stories (Epics: Access &amp; Verification, Account Visibility, Payment Journey, Interaction History &amp; Audit, Telemetry, Routing).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Critical Path:</a:t>
            </a:r>
            <a:r>
              <a:rPr lang="en-US">
                <a:solidFill>
                  <a:schemeClr val="dk1"/>
                </a:solidFill>
              </a:rPr>
              <a:t> US-01 (ID Verification) is the primary technical dependency before account balance displays (US-05) or payment commitments (US-10/11) can execute.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Operational, cultural, and compliance adoption risks are actively addressed through built-in system capabilities.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Key Stats &amp; Figures &amp; Mitigations: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Risk 1: Job Displacement Fears.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Mitigation:</a:t>
            </a:r>
            <a:r>
              <a:rPr lang="en-US">
                <a:solidFill>
                  <a:schemeClr val="dk1"/>
                </a:solidFill>
              </a:rPr>
              <a:t> Staff briefings explaining that automation handles routine queries, allowing representatives to focus on complex cases.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Risk 2: Lack of Context on Escalations.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Mitigation:</a:t>
            </a:r>
            <a:r>
              <a:rPr lang="en-US">
                <a:solidFill>
                  <a:schemeClr val="dk1"/>
                </a:solidFill>
              </a:rPr>
              <a:t> US-17 displays exact customer portal timeline in the rep console.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Risk 3: Unmonitored Success.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i="1" lang="en-US">
                <a:solidFill>
                  <a:schemeClr val="dk1"/>
                </a:solidFill>
              </a:rPr>
              <a:t>Mitigation:</a:t>
            </a:r>
            <a:r>
              <a:rPr lang="en-US">
                <a:solidFill>
                  <a:schemeClr val="dk1"/>
                </a:solidFill>
              </a:rPr>
              <a:t> US-20 &amp; US-21 capture real-time journey telemetry and weekly call deflection reports.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Secure formal leadership approval to proceed from prototype to pilot build.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Key Stats &amp; Figures: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Primary Ask:</a:t>
            </a:r>
            <a:r>
              <a:rPr lang="en-US">
                <a:solidFill>
                  <a:schemeClr val="dk1"/>
                </a:solidFill>
              </a:rPr>
              <a:t> Approval for Phase 1 pilot implementation funding.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Immediate Execution Roadmap: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Complete API integration between portal prototype and core database.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Conduct controlled pilot rollout on a initial account subset.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>
                <a:solidFill>
                  <a:schemeClr val="dk1"/>
                </a:solidFill>
              </a:rPr>
              <a:t>Measure conversion telemetry to validate the 12-month ROI model.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33400" y="4693890"/>
            <a:ext cx="533400" cy="38100"/>
          </a:xfrm>
          <a:prstGeom prst="roundRect">
            <a:avLst>
              <a:gd fmla="val 50000" name="adj"/>
            </a:avLst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12600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2221259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33400" y="2773700"/>
            <a:ext cx="1087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Self-Service Smart Recovery Portal Proposal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33400" y="3895360"/>
            <a:ext cx="596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Legacy Trust Bank Executive Briefing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28700" y="2216497"/>
            <a:ext cx="223130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LEGACY TRUST BANK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533400" y="975270"/>
            <a:ext cx="11125200" cy="704850"/>
          </a:xfrm>
          <a:prstGeom prst="roundRect">
            <a:avLst>
              <a:gd fmla="val 1621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33400" y="167059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33400" y="97527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33400" y="975270"/>
            <a:ext cx="47625" cy="7048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11649075" y="975270"/>
            <a:ext cx="9525" cy="7048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533400" y="1908720"/>
            <a:ext cx="5448300" cy="4530179"/>
          </a:xfrm>
          <a:prstGeom prst="roundRect">
            <a:avLst>
              <a:gd fmla="val 252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210300" y="1908720"/>
            <a:ext cx="5448300" cy="4530179"/>
          </a:xfrm>
          <a:prstGeom prst="roundRect">
            <a:avLst>
              <a:gd fmla="val 252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73739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157388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4625" y="273739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4625" y="3157388"/>
            <a:ext cx="762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33400" y="41910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RECOMMENDATION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47725" y="1194345"/>
            <a:ext cx="11344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Approve a focused Phase 1 Smart-Recovery portal that:</a:t>
            </a:r>
            <a:endParaRPr sz="1600"/>
          </a:p>
        </p:txBody>
      </p:sp>
      <p:sp>
        <p:nvSpPr>
          <p:cNvPr id="107" name="Google Shape;107;p14"/>
          <p:cNvSpPr txBox="1"/>
          <p:nvPr/>
        </p:nvSpPr>
        <p:spPr>
          <a:xfrm>
            <a:off x="847725" y="2223045"/>
            <a:ext cx="6325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CAPABILITIES</a:t>
            </a:r>
            <a:endParaRPr sz="1500"/>
          </a:p>
        </p:txBody>
      </p:sp>
      <p:sp>
        <p:nvSpPr>
          <p:cNvPr id="108" name="Google Shape;108;p14"/>
          <p:cNvSpPr txBox="1"/>
          <p:nvPr/>
        </p:nvSpPr>
        <p:spPr>
          <a:xfrm>
            <a:off x="6524625" y="2223045"/>
            <a:ext cx="56673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BENEFITS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38225" y="2651670"/>
            <a:ext cx="47244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Digitises simple self-serve debt recovery journeys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38225" y="3071663"/>
            <a:ext cx="47244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Routes unsupported cases to representatives with full context.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715125" y="2651670"/>
            <a:ext cx="47244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Frees up representative capacity immediately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715125" y="3071663"/>
            <a:ext cx="472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Delivers impact without requiring </a:t>
            </a:r>
            <a:r>
              <a:rPr b="1" lang="en-US" sz="13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resource-intensive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reworking of internal systems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533400" y="1051470"/>
            <a:ext cx="3555950" cy="5387429"/>
          </a:xfrm>
          <a:prstGeom prst="roundRect">
            <a:avLst>
              <a:gd fmla="val 3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4317950" y="1051470"/>
            <a:ext cx="3555950" cy="5387429"/>
          </a:xfrm>
          <a:prstGeom prst="roundRect">
            <a:avLst>
              <a:gd fmla="val 3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8102500" y="1051470"/>
            <a:ext cx="3555950" cy="5387429"/>
          </a:xfrm>
          <a:prstGeom prst="roundRect">
            <a:avLst>
              <a:gd fmla="val 3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33400" y="41910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THE PROBLEM MATTERS NOW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09625" y="1365795"/>
            <a:ext cx="3754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09625" y="1670595"/>
            <a:ext cx="394209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Handling Drain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09625" y="2042070"/>
            <a:ext cx="3098700" cy="17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Plus Jakarta Sans"/>
              <a:buChar char="●"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handling of all accounts is draining representative time</a:t>
            </a:r>
            <a:endParaRPr sz="135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Plus Jakarta Sans"/>
              <a:buChar char="●"/>
            </a:pPr>
            <a:r>
              <a:rPr lang="en-US" sz="13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asting valuable resources on simple cases 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Plus Jakarta Sans"/>
              <a:buChar char="●"/>
            </a:pPr>
            <a:r>
              <a:rPr lang="en-US" sz="13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</a:t>
            </a: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acking attention where critically needed.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572000" y="2094458"/>
            <a:ext cx="394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Delinquent Accounts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572000" y="2465933"/>
            <a:ext cx="30987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Volume is rapidly growing and is no longer manageable by just 50 agents. 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378725" y="1365795"/>
            <a:ext cx="3754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378725" y="1670595"/>
            <a:ext cx="381327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System Gaps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378725" y="2042070"/>
            <a:ext cx="3098700" cy="17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Plus Jakarta Sans"/>
              <a:buChar char="●"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Poor data management leads to missed cases. </a:t>
            </a:r>
            <a:endParaRPr b="0" i="0" sz="1350" u="none" cap="none" strike="noStrike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Plus Jakarta Sans"/>
              <a:buChar char="●"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New smart systems must be architected specifically to overcome these tracking and visibility gaps.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4572000" y="1573481"/>
            <a:ext cx="1619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100k+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594113" y="1358758"/>
            <a:ext cx="3754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n-US" sz="1050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b="1" sz="1050">
              <a:solidFill>
                <a:srgbClr val="1E3A8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>
            <a:off x="533400" y="1051470"/>
            <a:ext cx="3555950" cy="5387429"/>
          </a:xfrm>
          <a:prstGeom prst="roundRect">
            <a:avLst>
              <a:gd fmla="val 3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4317950" y="1051470"/>
            <a:ext cx="3555950" cy="5387429"/>
          </a:xfrm>
          <a:prstGeom prst="roundRect">
            <a:avLst>
              <a:gd fmla="val 3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8102500" y="1051470"/>
            <a:ext cx="3555950" cy="5387429"/>
          </a:xfrm>
          <a:prstGeom prst="roundRect">
            <a:avLst>
              <a:gd fmla="val 3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" y="2099220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" y="2729656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" y="3360092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125" y="2099220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125" y="2481113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125" y="2863006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9675" y="2099220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9675" y="2729656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9675" y="3360092"/>
            <a:ext cx="66675" cy="6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533400" y="41910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DISCOVERY EVIDENCE (PAIN POINTS)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90575" y="1346745"/>
            <a:ext cx="380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90575" y="1632495"/>
            <a:ext cx="3992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SIX CRITICAL PAIN POINTS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575125" y="1346745"/>
            <a:ext cx="380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575125" y="1632495"/>
            <a:ext cx="3992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 HIGH-PRIORITY JTBD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359675" y="1346745"/>
            <a:ext cx="380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359675" y="1632495"/>
            <a:ext cx="38323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AT-SCALE ROOT CAUSES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952500" y="2013495"/>
            <a:ext cx="2974925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Poor Visibility (manual workaround reliance)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52500" y="2643931"/>
            <a:ext cx="2974925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Duplication of Work (re-contact, manual re-keying)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52500" y="3274367"/>
            <a:ext cx="2974925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 Friction (no self-service visibility)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4737050" y="2013495"/>
            <a:ext cx="2974925" cy="248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 history &amp; contact tracking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4737050" y="2395388"/>
            <a:ext cx="2974925" cy="248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Simple case triage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4737050" y="2777281"/>
            <a:ext cx="2974925" cy="248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Self-service balance clarity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521600" y="2013495"/>
            <a:ext cx="2974925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integrated case record (reps check 3 systems for history)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521600" y="2643931"/>
            <a:ext cx="2974925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complexity classifier (simple cases stuck behind complex)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521600" y="3274367"/>
            <a:ext cx="2974925" cy="745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Scattered audit trail (email/sheets/legacy DB compliance risk)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/>
          <p:nvPr/>
        </p:nvSpPr>
        <p:spPr>
          <a:xfrm>
            <a:off x="533400" y="1051470"/>
            <a:ext cx="3754635" cy="5387429"/>
          </a:xfrm>
          <a:prstGeom prst="roundRect">
            <a:avLst>
              <a:gd fmla="val 304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4516635" y="1051470"/>
            <a:ext cx="3456682" cy="5387429"/>
          </a:xfrm>
          <a:prstGeom prst="roundRect">
            <a:avLst>
              <a:gd fmla="val 330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8201917" y="1051470"/>
            <a:ext cx="3456682" cy="5387429"/>
          </a:xfrm>
          <a:prstGeom prst="roundRect">
            <a:avLst>
              <a:gd fmla="val 330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771525" y="1994445"/>
            <a:ext cx="3278385" cy="695325"/>
          </a:xfrm>
          <a:prstGeom prst="roundRect">
            <a:avLst>
              <a:gd fmla="val 1095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771525" y="2823120"/>
            <a:ext cx="3278385" cy="695325"/>
          </a:xfrm>
          <a:prstGeom prst="roundRect">
            <a:avLst>
              <a:gd fmla="val 1095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71525" y="3651795"/>
            <a:ext cx="3278385" cy="695325"/>
          </a:xfrm>
          <a:prstGeom prst="roundRect">
            <a:avLst>
              <a:gd fmla="val 1095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533400" y="41910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VALUE CASE (ROI)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71525" y="1327695"/>
            <a:ext cx="409798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771525" y="1613445"/>
            <a:ext cx="430288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TOP RANKED OPPORTUNITIES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4754760" y="1327695"/>
            <a:ext cx="37255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4754760" y="1613445"/>
            <a:ext cx="39118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12-MONTH ROI LOGIC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440042" y="1327695"/>
            <a:ext cx="37255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440042" y="1613445"/>
            <a:ext cx="375195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CONFIDENCE &amp; NOTES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933450" y="2118270"/>
            <a:ext cx="369316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Payment-Plan Selection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933450" y="2365920"/>
            <a:ext cx="369316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12.94x–34.58x ROI | £1.48M Net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933450" y="2946945"/>
            <a:ext cx="369316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Promise-to-Pay Capture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933450" y="3194595"/>
            <a:ext cx="369316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7.6x–20.1x ROI | £857k Net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933450" y="3775620"/>
            <a:ext cx="369316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Portal Interaction History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933450" y="4023270"/>
            <a:ext cx="369316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1.45x–30.3x ROI | £706k Net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4754760" y="1994445"/>
            <a:ext cx="37255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Recovery Uplifts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4754760" y="2270670"/>
            <a:ext cx="3075682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Value is primarily driven by recovery uplifts captured from missed cases.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4754760" y="2911524"/>
            <a:ext cx="37255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Time Savings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4754760" y="3187749"/>
            <a:ext cx="3075682" cy="704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Complemented by representative operational time savings across workflows.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8440042" y="1994445"/>
            <a:ext cx="37255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Conservative Case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8440042" y="2270670"/>
            <a:ext cx="3075682" cy="704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ROI potential is maintained even under Conservative scenario estimates.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8440042" y="3146226"/>
            <a:ext cx="372554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Data Support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8440042" y="3422451"/>
            <a:ext cx="3075682" cy="704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time savings are backed by high/medium confidence baseline data.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/>
          <p:nvPr/>
        </p:nvSpPr>
        <p:spPr>
          <a:xfrm>
            <a:off x="533400" y="1051470"/>
            <a:ext cx="3555950" cy="5387429"/>
          </a:xfrm>
          <a:prstGeom prst="roundRect">
            <a:avLst>
              <a:gd fmla="val 3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4317950" y="1051470"/>
            <a:ext cx="3555950" cy="5387429"/>
          </a:xfrm>
          <a:prstGeom prst="roundRect">
            <a:avLst>
              <a:gd fmla="val 3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8102500" y="1051470"/>
            <a:ext cx="3555950" cy="5387429"/>
          </a:xfrm>
          <a:prstGeom prst="roundRect">
            <a:avLst>
              <a:gd fmla="val 3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1" name="Google Shape;2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" y="2118270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" y="2470695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" y="2823120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" y="3175545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575" y="3527970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125" y="2127795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125" y="2758231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5125" y="3140124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9675" y="2127795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9675" y="2777281"/>
            <a:ext cx="66675" cy="6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533400" y="41910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1 SCOPE AND EXCLUSIONS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790575" y="1346745"/>
            <a:ext cx="380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790575" y="1632495"/>
            <a:ext cx="39921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 SCOPE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4575125" y="1346745"/>
            <a:ext cx="380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4575125" y="1632495"/>
            <a:ext cx="39921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EXCLUDED (FOR NOW)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8359675" y="1346745"/>
            <a:ext cx="380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8359675" y="1632495"/>
            <a:ext cx="383232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THIS BUILDS CREDIBILITY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952500" y="2042070"/>
            <a:ext cx="36400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 verification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952500" y="2394495"/>
            <a:ext cx="36400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Account summary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952500" y="2746920"/>
            <a:ext cx="36400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Payment plan journey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952500" y="3099345"/>
            <a:ext cx="36400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Interaction history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952500" y="3451770"/>
            <a:ext cx="36400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Portal data tracking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4737050" y="2042070"/>
            <a:ext cx="2974925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Automating specialist routing (tailored plans, hardship, legal)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4737050" y="2672506"/>
            <a:ext cx="2974925" cy="248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Entire legacy data rework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4737050" y="3054399"/>
            <a:ext cx="2974925" cy="248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Account detail alterations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8521600" y="2042070"/>
            <a:ext cx="2974925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 trying to automate human judgement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8521600" y="2691556"/>
            <a:ext cx="2974925" cy="49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 trying to completely transform large internal systems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/>
          <p:nvPr/>
        </p:nvSpPr>
        <p:spPr>
          <a:xfrm>
            <a:off x="533400" y="1051470"/>
            <a:ext cx="3555950" cy="5387429"/>
          </a:xfrm>
          <a:prstGeom prst="roundRect">
            <a:avLst>
              <a:gd fmla="val 3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4317950" y="1051470"/>
            <a:ext cx="3555950" cy="5387429"/>
          </a:xfrm>
          <a:prstGeom prst="roundRect">
            <a:avLst>
              <a:gd fmla="val 3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8102500" y="1051470"/>
            <a:ext cx="3555950" cy="5387429"/>
          </a:xfrm>
          <a:prstGeom prst="roundRect">
            <a:avLst>
              <a:gd fmla="val 3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5" name="Google Shape;2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9425" y="3842874"/>
            <a:ext cx="666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9425" y="4100049"/>
            <a:ext cx="666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9425" y="4357224"/>
            <a:ext cx="666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9425" y="4614399"/>
            <a:ext cx="666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533400" y="41910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TO-BE WORKFLOW AND PROTOTYPE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771525" y="1327695"/>
            <a:ext cx="3849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771525" y="1594395"/>
            <a:ext cx="40421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 JOURNEY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4556075" y="1327695"/>
            <a:ext cx="3849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4556075" y="1594395"/>
            <a:ext cx="40421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EXCEPTION HANDLING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8340625" y="1327695"/>
            <a:ext cx="3849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8340625" y="1594395"/>
            <a:ext cx="38513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 &amp; AUDIT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771525" y="1956345"/>
            <a:ext cx="3849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Customer Verification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904875" y="2184945"/>
            <a:ext cx="3682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Identity verified upon entry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771525" y="2499270"/>
            <a:ext cx="3849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Self-Serve Options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904875" y="2727870"/>
            <a:ext cx="3041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Account summary &amp; payment plans displayed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771525" y="3242220"/>
            <a:ext cx="3849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Plan Commitment</a:t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904875" y="3470820"/>
            <a:ext cx="3041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 commits &amp; logged to audit trail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771525" y="3985170"/>
            <a:ext cx="3849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Rep Visibility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904875" y="4213770"/>
            <a:ext cx="3682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history visible (no re-keying)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4556075" y="1956345"/>
            <a:ext cx="3849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Direct Agent Routing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4689425" y="2184945"/>
            <a:ext cx="3041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 self-serve eligible cases routed to representative queue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4556075" y="3533312"/>
            <a:ext cx="3849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Reroute Triggers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8340625" y="1956345"/>
            <a:ext cx="3849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Case History Logging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8473975" y="2184945"/>
            <a:ext cx="3041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 interactions added to case history for complete traceability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8340625" y="2744837"/>
            <a:ext cx="3849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Incomplete Journeys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8473975" y="2973437"/>
            <a:ext cx="3041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Session timeouts &amp; abandoned sessions captured automatically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8340625" y="3533328"/>
            <a:ext cx="3849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Seamless Handoff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8473975" y="3761928"/>
            <a:ext cx="30416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Prevents re-contact friction and manual data re-entry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4832300" y="3800012"/>
            <a:ext cx="354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Failed verification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4832300" y="4057187"/>
            <a:ext cx="354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Self-reported hardship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4832300" y="4314362"/>
            <a:ext cx="354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Prefer human contact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4832300" y="4571537"/>
            <a:ext cx="354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dispute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4556075" y="2732287"/>
            <a:ext cx="3849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</a:t>
            </a:r>
            <a:r>
              <a:rPr b="1" lang="en-US" sz="12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Re-r</a:t>
            </a: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outing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4689425" y="2960887"/>
            <a:ext cx="3041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Failed self-serve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cases rerouted to representative queue with full context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"/>
          <p:cNvSpPr/>
          <p:nvPr/>
        </p:nvSpPr>
        <p:spPr>
          <a:xfrm>
            <a:off x="533400" y="1051470"/>
            <a:ext cx="3555950" cy="5387429"/>
          </a:xfrm>
          <a:prstGeom prst="roundRect">
            <a:avLst>
              <a:gd fmla="val 3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4317950" y="1051470"/>
            <a:ext cx="3555950" cy="5387429"/>
          </a:xfrm>
          <a:prstGeom prst="roundRect">
            <a:avLst>
              <a:gd fmla="val 3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8102500" y="1051470"/>
            <a:ext cx="3555950" cy="5387429"/>
          </a:xfrm>
          <a:prstGeom prst="roundRect">
            <a:avLst>
              <a:gd fmla="val 3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533400" y="41910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DELIVERY READINESS (BACKLOG &amp; PROTOTYPE)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771525" y="1327695"/>
            <a:ext cx="3849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771525" y="1594395"/>
            <a:ext cx="40421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 USER STORIES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4556075" y="1327695"/>
            <a:ext cx="3849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4556075" y="1594395"/>
            <a:ext cx="40421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DEPENDENCIES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8340625" y="1327695"/>
            <a:ext cx="3849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8340625" y="1594395"/>
            <a:ext cx="38513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BACKLOG UTILISATION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771525" y="1975395"/>
            <a:ext cx="3849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Scope Alignment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904875" y="2223045"/>
            <a:ext cx="3041600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Targeted at specific pain points / scope requirements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771525" y="2863899"/>
            <a:ext cx="3849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High ROI Priority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904875" y="3111549"/>
            <a:ext cx="3041600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Highest priority deliver ROI, or are key requirements to enable that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4556075" y="1975395"/>
            <a:ext cx="3849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Primary Blocker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4689425" y="2223045"/>
            <a:ext cx="3682937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True blocker is ID verification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4556075" y="2610147"/>
            <a:ext cx="3849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Payment Chain</a:t>
            </a:r>
            <a:endParaRPr/>
          </a:p>
        </p:txBody>
      </p:sp>
      <p:sp>
        <p:nvSpPr>
          <p:cNvPr id="290" name="Google Shape;290;p20"/>
          <p:cNvSpPr txBox="1"/>
          <p:nvPr/>
        </p:nvSpPr>
        <p:spPr>
          <a:xfrm>
            <a:off x="4689425" y="2857797"/>
            <a:ext cx="3682937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Integration of the core payment chain</a:t>
            </a: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4556075" y="3244899"/>
            <a:ext cx="3849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Parallel Tracks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4689425" y="3492549"/>
            <a:ext cx="3041600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&amp; payment can run parallel to exception handling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8340625" y="1975395"/>
            <a:ext cx="3849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Work Sequencing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8473975" y="2223045"/>
            <a:ext cx="3041600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Prioritised work order and clear dependencies</a:t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8340625" y="2863899"/>
            <a:ext cx="3849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Quality Assurance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8473975" y="3111549"/>
            <a:ext cx="3041600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Every story has testable acceptance criteria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"/>
          <p:cNvSpPr/>
          <p:nvPr/>
        </p:nvSpPr>
        <p:spPr>
          <a:xfrm>
            <a:off x="533400" y="1051470"/>
            <a:ext cx="5448300" cy="5387429"/>
          </a:xfrm>
          <a:prstGeom prst="roundRect">
            <a:avLst>
              <a:gd fmla="val 21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6210300" y="1051470"/>
            <a:ext cx="5448300" cy="5387429"/>
          </a:xfrm>
          <a:prstGeom prst="roundRect">
            <a:avLst>
              <a:gd fmla="val 21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3" name="Google Shape;3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2127795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2468760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2809726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3377356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3718321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4059287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6525" y="2127795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6525" y="2720131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6525" y="3107233"/>
            <a:ext cx="66675" cy="6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6525" y="3494335"/>
            <a:ext cx="66675" cy="6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1"/>
          <p:cNvSpPr txBox="1"/>
          <p:nvPr/>
        </p:nvSpPr>
        <p:spPr>
          <a:xfrm>
            <a:off x="533400" y="41910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CHANGE RISKS AND MITIGATIONS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809625" y="1346745"/>
            <a:ext cx="61198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809625" y="1632495"/>
            <a:ext cx="642580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RISKS TO ADOPTION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6486525" y="1346745"/>
            <a:ext cx="5705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6486525" y="1632495"/>
            <a:ext cx="57054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EXECUTABLE MITIGATIONS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971550" y="2042070"/>
            <a:ext cx="5957887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Fear of job displacement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971550" y="2383035"/>
            <a:ext cx="5957887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Portal rejected if unsupported cases return without context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971550" y="2724001"/>
            <a:ext cx="4829175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Staff reliance on workarounds ("system slower than shortcuts")</a:t>
            </a:r>
            <a:endParaRPr/>
          </a:p>
        </p:txBody>
      </p:sp>
      <p:sp>
        <p:nvSpPr>
          <p:cNvPr id="321" name="Google Shape;321;p21"/>
          <p:cNvSpPr txBox="1"/>
          <p:nvPr/>
        </p:nvSpPr>
        <p:spPr>
          <a:xfrm>
            <a:off x="971550" y="3291631"/>
            <a:ext cx="5957887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Lack of observability of ongoing success</a:t>
            </a:r>
            <a:endParaRPr/>
          </a:p>
        </p:txBody>
      </p:sp>
      <p:sp>
        <p:nvSpPr>
          <p:cNvPr id="322" name="Google Shape;322;p21"/>
          <p:cNvSpPr txBox="1"/>
          <p:nvPr/>
        </p:nvSpPr>
        <p:spPr>
          <a:xfrm>
            <a:off x="971550" y="3632596"/>
            <a:ext cx="5957887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Regulatory issues with automated case handling</a:t>
            </a:r>
            <a:endParaRPr/>
          </a:p>
        </p:txBody>
      </p:sp>
      <p:sp>
        <p:nvSpPr>
          <p:cNvPr id="323" name="Google Shape;323;p21"/>
          <p:cNvSpPr txBox="1"/>
          <p:nvPr/>
        </p:nvSpPr>
        <p:spPr>
          <a:xfrm>
            <a:off x="971550" y="3973562"/>
            <a:ext cx="5957887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Teething problems or exploitation</a:t>
            </a:r>
            <a:endParaRPr/>
          </a:p>
        </p:txBody>
      </p:sp>
      <p:sp>
        <p:nvSpPr>
          <p:cNvPr id="324" name="Google Shape;324;p21"/>
          <p:cNvSpPr txBox="1"/>
          <p:nvPr/>
        </p:nvSpPr>
        <p:spPr>
          <a:xfrm>
            <a:off x="6648450" y="2634406"/>
            <a:ext cx="48291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Ongoing performance data collection</a:t>
            </a:r>
            <a:endParaRPr/>
          </a:p>
        </p:txBody>
      </p:sp>
      <p:sp>
        <p:nvSpPr>
          <p:cNvPr id="325" name="Google Shape;325;p21"/>
          <p:cNvSpPr txBox="1"/>
          <p:nvPr/>
        </p:nvSpPr>
        <p:spPr>
          <a:xfrm>
            <a:off x="6648450" y="3021508"/>
            <a:ext cx="48291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Routing complex cases directly to representative team</a:t>
            </a:r>
            <a:endParaRPr/>
          </a:p>
        </p:txBody>
      </p:sp>
      <p:sp>
        <p:nvSpPr>
          <p:cNvPr id="326" name="Google Shape;326;p21"/>
          <p:cNvSpPr txBox="1"/>
          <p:nvPr/>
        </p:nvSpPr>
        <p:spPr>
          <a:xfrm>
            <a:off x="6648450" y="3408610"/>
            <a:ext cx="48291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Thorough testing in Phase-1 before full adoption</a:t>
            </a:r>
            <a:endParaRPr/>
          </a:p>
        </p:txBody>
      </p:sp>
      <p:sp>
        <p:nvSpPr>
          <p:cNvPr id="327" name="Google Shape;327;p21"/>
          <p:cNvSpPr txBox="1"/>
          <p:nvPr/>
        </p:nvSpPr>
        <p:spPr>
          <a:xfrm>
            <a:off x="6648450" y="2042070"/>
            <a:ext cx="5179218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Explanatory staff presentation prior to integration</a:t>
            </a:r>
            <a:endParaRPr/>
          </a:p>
        </p:txBody>
      </p:sp>
      <p:sp>
        <p:nvSpPr>
          <p:cNvPr id="328" name="Google Shape;328;p21"/>
          <p:cNvSpPr txBox="1"/>
          <p:nvPr/>
        </p:nvSpPr>
        <p:spPr>
          <a:xfrm>
            <a:off x="6648450" y="2268735"/>
            <a:ext cx="5179218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Demonstrating efficiency &amp; clarifying non-replaced tasks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/>
          <p:nvPr/>
        </p:nvSpPr>
        <p:spPr>
          <a:xfrm>
            <a:off x="533400" y="1051470"/>
            <a:ext cx="5448300" cy="5387429"/>
          </a:xfrm>
          <a:prstGeom prst="roundRect">
            <a:avLst>
              <a:gd fmla="val 21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6210300" y="1051470"/>
            <a:ext cx="5448300" cy="5387429"/>
          </a:xfrm>
          <a:prstGeom prst="roundRect">
            <a:avLst>
              <a:gd fmla="val 212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945350" y="2025245"/>
            <a:ext cx="4686300" cy="610500"/>
          </a:xfrm>
          <a:prstGeom prst="roundRect">
            <a:avLst>
              <a:gd fmla="val 1248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945350" y="2626213"/>
            <a:ext cx="46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945350" y="2025245"/>
            <a:ext cx="4686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945350" y="2025245"/>
            <a:ext cx="38100" cy="6105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5622125" y="2025245"/>
            <a:ext cx="9600" cy="610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533400" y="419100"/>
            <a:ext cx="116586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APPROVAL ASK &amp; NEXT STEPS</a:t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847725" y="1365795"/>
            <a:ext cx="60245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847725" y="1651545"/>
            <a:ext cx="632579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APPROVAL REQUEST</a:t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6524625" y="1365795"/>
            <a:ext cx="5667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6524625" y="1651545"/>
            <a:ext cx="56673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NEXT STEPS</a:t>
            </a:r>
            <a:endParaRPr/>
          </a:p>
        </p:txBody>
      </p:sp>
      <p:sp>
        <p:nvSpPr>
          <p:cNvPr id="345" name="Google Shape;345;p22"/>
          <p:cNvSpPr txBox="1"/>
          <p:nvPr/>
        </p:nvSpPr>
        <p:spPr>
          <a:xfrm>
            <a:off x="1154900" y="2206220"/>
            <a:ext cx="5369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Funding for a phase 1 pilot implementation</a:t>
            </a:r>
            <a:endParaRPr/>
          </a:p>
        </p:txBody>
      </p:sp>
      <p:sp>
        <p:nvSpPr>
          <p:cNvPr id="346" name="Google Shape;346;p22"/>
          <p:cNvSpPr txBox="1"/>
          <p:nvPr/>
        </p:nvSpPr>
        <p:spPr>
          <a:xfrm>
            <a:off x="6524625" y="2080170"/>
            <a:ext cx="5667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Portal Integration</a:t>
            </a:r>
            <a:endParaRPr/>
          </a:p>
        </p:txBody>
      </p:sp>
      <p:sp>
        <p:nvSpPr>
          <p:cNvPr id="347" name="Google Shape;347;p22"/>
          <p:cNvSpPr txBox="1"/>
          <p:nvPr/>
        </p:nvSpPr>
        <p:spPr>
          <a:xfrm>
            <a:off x="6657975" y="2337345"/>
            <a:ext cx="4781550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Turn prototype into functioning portal with API and database integration</a:t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6524625" y="2978199"/>
            <a:ext cx="5667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Test Launch</a:t>
            </a:r>
            <a:endParaRPr/>
          </a:p>
        </p:txBody>
      </p:sp>
      <p:sp>
        <p:nvSpPr>
          <p:cNvPr id="349" name="Google Shape;349;p22"/>
          <p:cNvSpPr txBox="1"/>
          <p:nvPr/>
        </p:nvSpPr>
        <p:spPr>
          <a:xfrm>
            <a:off x="6657975" y="3235374"/>
            <a:ext cx="4781550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Execute initial test phase to validate user experience and workflow</a:t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6524625" y="3876228"/>
            <a:ext cx="5667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Development Cycle</a:t>
            </a:r>
            <a:endParaRPr/>
          </a:p>
        </p:txBody>
      </p:sp>
      <p:sp>
        <p:nvSpPr>
          <p:cNvPr id="351" name="Google Shape;351;p22"/>
          <p:cNvSpPr txBox="1"/>
          <p:nvPr/>
        </p:nvSpPr>
        <p:spPr>
          <a:xfrm>
            <a:off x="6657975" y="4133403"/>
            <a:ext cx="553402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Iterative rollout and enhancement post-pilot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